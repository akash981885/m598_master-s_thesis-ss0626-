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56" r:id="rId2"/>
    <p:sldId id="257" r:id="rId3"/>
    <p:sldId id="258" r:id="rId4"/>
    <p:sldId id="269" r:id="rId5"/>
    <p:sldId id="271" r:id="rId6"/>
    <p:sldId id="272"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943" autoAdjust="0"/>
  </p:normalViewPr>
  <p:slideViewPr>
    <p:cSldViewPr snapToGrid="0">
      <p:cViewPr>
        <p:scale>
          <a:sx n="110" d="100"/>
          <a:sy n="110" d="100"/>
        </p:scale>
        <p:origin x="-398"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4" Type="http://schemas.openxmlformats.org/officeDocument/2006/relationships/image" Target="../media/image14.svg"/></Relationships>
</file>

<file path=ppt/diagrams/_rels/data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14.svg"/><Relationship Id="rId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14.sv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F295D34-57B8-4440-BA75-C38ADA35361A}" type="doc">
      <dgm:prSet loTypeId="urn:microsoft.com/office/officeart/2018/2/layout/IconVerticalSolidList" loCatId="icon" qsTypeId="urn:microsoft.com/office/officeart/2005/8/quickstyle/simple1#15" qsCatId="simple" csTypeId="urn:microsoft.com/office/officeart/2018/5/colors/Iconchunking_neutralicontext_colorful1" csCatId="colorful" phldr="1"/>
      <dgm:spPr/>
      <dgm:t>
        <a:bodyPr/>
        <a:lstStyle/>
        <a:p>
          <a:endParaRPr lang="en-US"/>
        </a:p>
      </dgm:t>
    </dgm:pt>
    <dgm:pt modelId="{78B5D5F8-DE0A-4A6B-A3C8-9A5C0E234A66}">
      <dgm:prSet/>
      <dgm:spPr/>
      <dgm:t>
        <a:bodyPr/>
        <a:lstStyle/>
        <a:p>
          <a:r>
            <a:rPr lang="en-US" b="0" i="0" baseline="0"/>
            <a:t>The study focuses on how well the employees are aware of the practice of cybersecurity within the organisation. </a:t>
          </a:r>
          <a:endParaRPr lang="en-US"/>
        </a:p>
      </dgm:t>
    </dgm:pt>
    <dgm:pt modelId="{98CC11A2-B701-46FE-AC19-456B002E29CF}" type="parTrans" cxnId="{DC1B15FB-5ADE-4A89-A44F-7EC270F8F23F}">
      <dgm:prSet/>
      <dgm:spPr/>
      <dgm:t>
        <a:bodyPr/>
        <a:lstStyle/>
        <a:p>
          <a:endParaRPr lang="en-US"/>
        </a:p>
      </dgm:t>
    </dgm:pt>
    <dgm:pt modelId="{D38D4DBB-25A8-4F16-AC66-91E5790A5F1D}" type="sibTrans" cxnId="{DC1B15FB-5ADE-4A89-A44F-7EC270F8F23F}">
      <dgm:prSet/>
      <dgm:spPr/>
      <dgm:t>
        <a:bodyPr/>
        <a:lstStyle/>
        <a:p>
          <a:endParaRPr lang="en-US"/>
        </a:p>
      </dgm:t>
    </dgm:pt>
    <dgm:pt modelId="{73D74CD5-FDEF-446D-9749-645642A661C2}">
      <dgm:prSet/>
      <dgm:spPr/>
      <dgm:t>
        <a:bodyPr/>
        <a:lstStyle/>
        <a:p>
          <a:r>
            <a:rPr lang="en-US" b="0" i="0" baseline="0"/>
            <a:t>It looks at typical human elements that contribute to cybersecurity threats. </a:t>
          </a:r>
          <a:endParaRPr lang="en-US"/>
        </a:p>
      </dgm:t>
    </dgm:pt>
    <dgm:pt modelId="{7F5F4983-A5D4-4B9B-B1CC-6ED9C4DC69A3}" type="parTrans" cxnId="{BB396582-027F-4052-9199-6A563F3E00C3}">
      <dgm:prSet/>
      <dgm:spPr/>
      <dgm:t>
        <a:bodyPr/>
        <a:lstStyle/>
        <a:p>
          <a:endParaRPr lang="en-US"/>
        </a:p>
      </dgm:t>
    </dgm:pt>
    <dgm:pt modelId="{CC80130F-F02D-48E4-9B9A-E4A415A6765C}" type="sibTrans" cxnId="{BB396582-027F-4052-9199-6A563F3E00C3}">
      <dgm:prSet/>
      <dgm:spPr/>
      <dgm:t>
        <a:bodyPr/>
        <a:lstStyle/>
        <a:p>
          <a:endParaRPr lang="en-US"/>
        </a:p>
      </dgm:t>
    </dgm:pt>
    <dgm:pt modelId="{C9FA1572-5617-4539-B208-33FA3A965F39}">
      <dgm:prSet/>
      <dgm:spPr/>
      <dgm:t>
        <a:bodyPr/>
        <a:lstStyle/>
        <a:p>
          <a:r>
            <a:rPr lang="en-US" b="0" i="0" baseline="0"/>
            <a:t>It measures effectiveness of awareness programmes in past research studies. </a:t>
          </a:r>
          <a:endParaRPr lang="en-US"/>
        </a:p>
      </dgm:t>
    </dgm:pt>
    <dgm:pt modelId="{5075CBBC-0D98-4339-9D75-7BC41D43F91D}" type="parTrans" cxnId="{4E5A0EDF-21B1-480D-9BE3-BD0C2AD5BB64}">
      <dgm:prSet/>
      <dgm:spPr/>
      <dgm:t>
        <a:bodyPr/>
        <a:lstStyle/>
        <a:p>
          <a:endParaRPr lang="en-US"/>
        </a:p>
      </dgm:t>
    </dgm:pt>
    <dgm:pt modelId="{0C814641-2D71-425E-8B77-3E4DCE261DA0}" type="sibTrans" cxnId="{4E5A0EDF-21B1-480D-9BE3-BD0C2AD5BB64}">
      <dgm:prSet/>
      <dgm:spPr/>
      <dgm:t>
        <a:bodyPr/>
        <a:lstStyle/>
        <a:p>
          <a:endParaRPr lang="en-US"/>
        </a:p>
      </dgm:t>
    </dgm:pt>
    <dgm:pt modelId="{25FF5DE4-9C37-40F1-A254-75DCAA4E9854}">
      <dgm:prSet/>
      <dgm:spPr/>
      <dgm:t>
        <a:bodyPr/>
        <a:lstStyle/>
        <a:p>
          <a:r>
            <a:rPr lang="en-US" b="0" i="0" baseline="0"/>
            <a:t>It develops recommendations on how to make employees more aware of cybersecurity. </a:t>
          </a:r>
          <a:endParaRPr lang="en-US"/>
        </a:p>
      </dgm:t>
    </dgm:pt>
    <dgm:pt modelId="{1EFA29A7-F2EC-46F4-A172-50D9F7BD3350}" type="parTrans" cxnId="{453D1018-5941-49ED-B885-18CE070459CB}">
      <dgm:prSet/>
      <dgm:spPr/>
      <dgm:t>
        <a:bodyPr/>
        <a:lstStyle/>
        <a:p>
          <a:endParaRPr lang="en-US"/>
        </a:p>
      </dgm:t>
    </dgm:pt>
    <dgm:pt modelId="{2EF44D6F-E6B3-4B5D-B0AD-3F0633D8D28B}" type="sibTrans" cxnId="{453D1018-5941-49ED-B885-18CE070459CB}">
      <dgm:prSet/>
      <dgm:spPr/>
      <dgm:t>
        <a:bodyPr/>
        <a:lstStyle/>
        <a:p>
          <a:endParaRPr lang="en-US"/>
        </a:p>
      </dgm:t>
    </dgm:pt>
    <dgm:pt modelId="{4269FDDF-A10D-469F-98E2-B56625DDDFA2}" type="pres">
      <dgm:prSet presAssocID="{2F295D34-57B8-4440-BA75-C38ADA35361A}" presName="root" presStyleCnt="0">
        <dgm:presLayoutVars>
          <dgm:dir/>
          <dgm:resizeHandles val="exact"/>
        </dgm:presLayoutVars>
      </dgm:prSet>
      <dgm:spPr/>
    </dgm:pt>
    <dgm:pt modelId="{30AEB9C4-E764-46C2-BDFA-D163A3822936}" type="pres">
      <dgm:prSet presAssocID="{78B5D5F8-DE0A-4A6B-A3C8-9A5C0E234A66}" presName="compNode" presStyleCnt="0"/>
      <dgm:spPr/>
    </dgm:pt>
    <dgm:pt modelId="{7D1CC08B-1F24-4F2D-9624-BE16CBB3BB6C}" type="pres">
      <dgm:prSet presAssocID="{78B5D5F8-DE0A-4A6B-A3C8-9A5C0E234A66}" presName="bgRect" presStyleLbl="bgShp" presStyleIdx="0" presStyleCnt="4"/>
      <dgm:spPr/>
    </dgm:pt>
    <dgm:pt modelId="{A3F9A0C0-2A48-4A1F-A80C-79E0386524B3}" type="pres">
      <dgm:prSet presAssocID="{78B5D5F8-DE0A-4A6B-A3C8-9A5C0E234A6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ock"/>
        </a:ext>
      </dgm:extLst>
    </dgm:pt>
    <dgm:pt modelId="{083988B1-95CE-49A4-8ECF-5A9F0209B0A6}" type="pres">
      <dgm:prSet presAssocID="{78B5D5F8-DE0A-4A6B-A3C8-9A5C0E234A66}" presName="spaceRect" presStyleCnt="0"/>
      <dgm:spPr/>
    </dgm:pt>
    <dgm:pt modelId="{87C3088A-462A-4BD2-8CC6-C35E216BA52C}" type="pres">
      <dgm:prSet presAssocID="{78B5D5F8-DE0A-4A6B-A3C8-9A5C0E234A66}" presName="parTx" presStyleLbl="revTx" presStyleIdx="0" presStyleCnt="4">
        <dgm:presLayoutVars>
          <dgm:chMax val="0"/>
          <dgm:chPref val="0"/>
        </dgm:presLayoutVars>
      </dgm:prSet>
      <dgm:spPr/>
    </dgm:pt>
    <dgm:pt modelId="{C17A43C2-B56F-4ACC-88D5-86093166061F}" type="pres">
      <dgm:prSet presAssocID="{D38D4DBB-25A8-4F16-AC66-91E5790A5F1D}" presName="sibTrans" presStyleCnt="0"/>
      <dgm:spPr/>
    </dgm:pt>
    <dgm:pt modelId="{CD61BE87-37EB-427C-9327-4B416145602B}" type="pres">
      <dgm:prSet presAssocID="{73D74CD5-FDEF-446D-9749-645642A661C2}" presName="compNode" presStyleCnt="0"/>
      <dgm:spPr/>
    </dgm:pt>
    <dgm:pt modelId="{0A2EB954-46BC-49F0-BF73-997570F9EB02}" type="pres">
      <dgm:prSet presAssocID="{73D74CD5-FDEF-446D-9749-645642A661C2}" presName="bgRect" presStyleLbl="bgShp" presStyleIdx="1" presStyleCnt="4"/>
      <dgm:spPr/>
    </dgm:pt>
    <dgm:pt modelId="{ECF322D7-2865-4065-BCC5-36C7AC7450BF}" type="pres">
      <dgm:prSet presAssocID="{73D74CD5-FDEF-446D-9749-645642A661C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2DB0E5CD-27F1-4243-97BD-EED15ABAAEA3}" type="pres">
      <dgm:prSet presAssocID="{73D74CD5-FDEF-446D-9749-645642A661C2}" presName="spaceRect" presStyleCnt="0"/>
      <dgm:spPr/>
    </dgm:pt>
    <dgm:pt modelId="{BE47305D-FA82-444F-9E98-95117E78648E}" type="pres">
      <dgm:prSet presAssocID="{73D74CD5-FDEF-446D-9749-645642A661C2}" presName="parTx" presStyleLbl="revTx" presStyleIdx="1" presStyleCnt="4">
        <dgm:presLayoutVars>
          <dgm:chMax val="0"/>
          <dgm:chPref val="0"/>
        </dgm:presLayoutVars>
      </dgm:prSet>
      <dgm:spPr/>
    </dgm:pt>
    <dgm:pt modelId="{D52B1DC7-DE37-4FF0-96FC-152654B6F74C}" type="pres">
      <dgm:prSet presAssocID="{CC80130F-F02D-48E4-9B9A-E4A415A6765C}" presName="sibTrans" presStyleCnt="0"/>
      <dgm:spPr/>
    </dgm:pt>
    <dgm:pt modelId="{CB30EAA9-7340-4D4F-BC0F-A1BB33A406A4}" type="pres">
      <dgm:prSet presAssocID="{C9FA1572-5617-4539-B208-33FA3A965F39}" presName="compNode" presStyleCnt="0"/>
      <dgm:spPr/>
    </dgm:pt>
    <dgm:pt modelId="{80F9AD35-C559-45FA-A8A9-1B12DCEBFBFE}" type="pres">
      <dgm:prSet presAssocID="{C9FA1572-5617-4539-B208-33FA3A965F39}" presName="bgRect" presStyleLbl="bgShp" presStyleIdx="2" presStyleCnt="4"/>
      <dgm:spPr/>
    </dgm:pt>
    <dgm:pt modelId="{AA66A74D-3A2A-4CEE-8A75-3CA650BDD1E0}" type="pres">
      <dgm:prSet presAssocID="{C9FA1572-5617-4539-B208-33FA3A965F3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erson with Idea"/>
        </a:ext>
      </dgm:extLst>
    </dgm:pt>
    <dgm:pt modelId="{DE63DDD5-D23F-42F3-A723-2A2E22AF5D5C}" type="pres">
      <dgm:prSet presAssocID="{C9FA1572-5617-4539-B208-33FA3A965F39}" presName="spaceRect" presStyleCnt="0"/>
      <dgm:spPr/>
    </dgm:pt>
    <dgm:pt modelId="{A7E05158-A7F2-4B02-8804-FA10307EE62D}" type="pres">
      <dgm:prSet presAssocID="{C9FA1572-5617-4539-B208-33FA3A965F39}" presName="parTx" presStyleLbl="revTx" presStyleIdx="2" presStyleCnt="4">
        <dgm:presLayoutVars>
          <dgm:chMax val="0"/>
          <dgm:chPref val="0"/>
        </dgm:presLayoutVars>
      </dgm:prSet>
      <dgm:spPr/>
    </dgm:pt>
    <dgm:pt modelId="{5BBE1032-2E65-4BBF-89FC-8FD3D685CB53}" type="pres">
      <dgm:prSet presAssocID="{0C814641-2D71-425E-8B77-3E4DCE261DA0}" presName="sibTrans" presStyleCnt="0"/>
      <dgm:spPr/>
    </dgm:pt>
    <dgm:pt modelId="{8C987831-F456-4B48-9834-EC8F1849CA9E}" type="pres">
      <dgm:prSet presAssocID="{25FF5DE4-9C37-40F1-A254-75DCAA4E9854}" presName="compNode" presStyleCnt="0"/>
      <dgm:spPr/>
    </dgm:pt>
    <dgm:pt modelId="{941DCDF3-1602-4894-917F-1E4CAF0B3DA5}" type="pres">
      <dgm:prSet presAssocID="{25FF5DE4-9C37-40F1-A254-75DCAA4E9854}" presName="bgRect" presStyleLbl="bgShp" presStyleIdx="3" presStyleCnt="4"/>
      <dgm:spPr/>
    </dgm:pt>
    <dgm:pt modelId="{20899B01-5B77-4F14-B0BD-461096266CFC}" type="pres">
      <dgm:prSet presAssocID="{25FF5DE4-9C37-40F1-A254-75DCAA4E985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691954D3-2931-4451-8E7E-EA327386B324}" type="pres">
      <dgm:prSet presAssocID="{25FF5DE4-9C37-40F1-A254-75DCAA4E9854}" presName="spaceRect" presStyleCnt="0"/>
      <dgm:spPr/>
    </dgm:pt>
    <dgm:pt modelId="{2CC1B1B4-BD88-4A97-A870-1609B53B8FD0}" type="pres">
      <dgm:prSet presAssocID="{25FF5DE4-9C37-40F1-A254-75DCAA4E9854}" presName="parTx" presStyleLbl="revTx" presStyleIdx="3" presStyleCnt="4">
        <dgm:presLayoutVars>
          <dgm:chMax val="0"/>
          <dgm:chPref val="0"/>
        </dgm:presLayoutVars>
      </dgm:prSet>
      <dgm:spPr/>
    </dgm:pt>
  </dgm:ptLst>
  <dgm:cxnLst>
    <dgm:cxn modelId="{453D1018-5941-49ED-B885-18CE070459CB}" srcId="{2F295D34-57B8-4440-BA75-C38ADA35361A}" destId="{25FF5DE4-9C37-40F1-A254-75DCAA4E9854}" srcOrd="3" destOrd="0" parTransId="{1EFA29A7-F2EC-46F4-A172-50D9F7BD3350}" sibTransId="{2EF44D6F-E6B3-4B5D-B0AD-3F0633D8D28B}"/>
    <dgm:cxn modelId="{CE497960-E23F-466C-990A-DFABE94B643D}" type="presOf" srcId="{2F295D34-57B8-4440-BA75-C38ADA35361A}" destId="{4269FDDF-A10D-469F-98E2-B56625DDDFA2}" srcOrd="0" destOrd="0" presId="urn:microsoft.com/office/officeart/2018/2/layout/IconVerticalSolidList"/>
    <dgm:cxn modelId="{0F35AD6B-1909-4C0D-9945-F8F7A0B5043C}" type="presOf" srcId="{C9FA1572-5617-4539-B208-33FA3A965F39}" destId="{A7E05158-A7F2-4B02-8804-FA10307EE62D}" srcOrd="0" destOrd="0" presId="urn:microsoft.com/office/officeart/2018/2/layout/IconVerticalSolidList"/>
    <dgm:cxn modelId="{C1303572-83E4-408D-AB24-6A45FEC354B5}" type="presOf" srcId="{25FF5DE4-9C37-40F1-A254-75DCAA4E9854}" destId="{2CC1B1B4-BD88-4A97-A870-1609B53B8FD0}" srcOrd="0" destOrd="0" presId="urn:microsoft.com/office/officeart/2018/2/layout/IconVerticalSolidList"/>
    <dgm:cxn modelId="{81924374-AACC-4650-8B82-3178A3EF52CC}" type="presOf" srcId="{78B5D5F8-DE0A-4A6B-A3C8-9A5C0E234A66}" destId="{87C3088A-462A-4BD2-8CC6-C35E216BA52C}" srcOrd="0" destOrd="0" presId="urn:microsoft.com/office/officeart/2018/2/layout/IconVerticalSolidList"/>
    <dgm:cxn modelId="{BB396582-027F-4052-9199-6A563F3E00C3}" srcId="{2F295D34-57B8-4440-BA75-C38ADA35361A}" destId="{73D74CD5-FDEF-446D-9749-645642A661C2}" srcOrd="1" destOrd="0" parTransId="{7F5F4983-A5D4-4B9B-B1CC-6ED9C4DC69A3}" sibTransId="{CC80130F-F02D-48E4-9B9A-E4A415A6765C}"/>
    <dgm:cxn modelId="{812971BB-8BE9-43A8-962C-5DCDCAAFCE3E}" type="presOf" srcId="{73D74CD5-FDEF-446D-9749-645642A661C2}" destId="{BE47305D-FA82-444F-9E98-95117E78648E}" srcOrd="0" destOrd="0" presId="urn:microsoft.com/office/officeart/2018/2/layout/IconVerticalSolidList"/>
    <dgm:cxn modelId="{4E5A0EDF-21B1-480D-9BE3-BD0C2AD5BB64}" srcId="{2F295D34-57B8-4440-BA75-C38ADA35361A}" destId="{C9FA1572-5617-4539-B208-33FA3A965F39}" srcOrd="2" destOrd="0" parTransId="{5075CBBC-0D98-4339-9D75-7BC41D43F91D}" sibTransId="{0C814641-2D71-425E-8B77-3E4DCE261DA0}"/>
    <dgm:cxn modelId="{DC1B15FB-5ADE-4A89-A44F-7EC270F8F23F}" srcId="{2F295D34-57B8-4440-BA75-C38ADA35361A}" destId="{78B5D5F8-DE0A-4A6B-A3C8-9A5C0E234A66}" srcOrd="0" destOrd="0" parTransId="{98CC11A2-B701-46FE-AC19-456B002E29CF}" sibTransId="{D38D4DBB-25A8-4F16-AC66-91E5790A5F1D}"/>
    <dgm:cxn modelId="{A2521123-9F85-4879-8DDF-DED5269DD984}" type="presParOf" srcId="{4269FDDF-A10D-469F-98E2-B56625DDDFA2}" destId="{30AEB9C4-E764-46C2-BDFA-D163A3822936}" srcOrd="0" destOrd="0" presId="urn:microsoft.com/office/officeart/2018/2/layout/IconVerticalSolidList"/>
    <dgm:cxn modelId="{C42AAAF2-D796-481A-9BC3-83A1AFEC63E8}" type="presParOf" srcId="{30AEB9C4-E764-46C2-BDFA-D163A3822936}" destId="{7D1CC08B-1F24-4F2D-9624-BE16CBB3BB6C}" srcOrd="0" destOrd="0" presId="urn:microsoft.com/office/officeart/2018/2/layout/IconVerticalSolidList"/>
    <dgm:cxn modelId="{56A106B0-8DA4-499F-B21A-C7F68DE1C033}" type="presParOf" srcId="{30AEB9C4-E764-46C2-BDFA-D163A3822936}" destId="{A3F9A0C0-2A48-4A1F-A80C-79E0386524B3}" srcOrd="1" destOrd="0" presId="urn:microsoft.com/office/officeart/2018/2/layout/IconVerticalSolidList"/>
    <dgm:cxn modelId="{63AB51C0-98FE-4B18-8B30-A4112CCBC446}" type="presParOf" srcId="{30AEB9C4-E764-46C2-BDFA-D163A3822936}" destId="{083988B1-95CE-49A4-8ECF-5A9F0209B0A6}" srcOrd="2" destOrd="0" presId="urn:microsoft.com/office/officeart/2018/2/layout/IconVerticalSolidList"/>
    <dgm:cxn modelId="{6D3B80B0-5FF1-480D-AC3A-49317B526FF6}" type="presParOf" srcId="{30AEB9C4-E764-46C2-BDFA-D163A3822936}" destId="{87C3088A-462A-4BD2-8CC6-C35E216BA52C}" srcOrd="3" destOrd="0" presId="urn:microsoft.com/office/officeart/2018/2/layout/IconVerticalSolidList"/>
    <dgm:cxn modelId="{4963CD7D-F292-49E8-8F50-2D11C6F277A5}" type="presParOf" srcId="{4269FDDF-A10D-469F-98E2-B56625DDDFA2}" destId="{C17A43C2-B56F-4ACC-88D5-86093166061F}" srcOrd="1" destOrd="0" presId="urn:microsoft.com/office/officeart/2018/2/layout/IconVerticalSolidList"/>
    <dgm:cxn modelId="{4747AC5F-ED1C-4B5B-B78C-EB392D3E32D0}" type="presParOf" srcId="{4269FDDF-A10D-469F-98E2-B56625DDDFA2}" destId="{CD61BE87-37EB-427C-9327-4B416145602B}" srcOrd="2" destOrd="0" presId="urn:microsoft.com/office/officeart/2018/2/layout/IconVerticalSolidList"/>
    <dgm:cxn modelId="{44EDD54B-2814-465E-A82E-4B411F342E1E}" type="presParOf" srcId="{CD61BE87-37EB-427C-9327-4B416145602B}" destId="{0A2EB954-46BC-49F0-BF73-997570F9EB02}" srcOrd="0" destOrd="0" presId="urn:microsoft.com/office/officeart/2018/2/layout/IconVerticalSolidList"/>
    <dgm:cxn modelId="{DF5B02BD-6A2E-4F90-967F-9ACD5472A85D}" type="presParOf" srcId="{CD61BE87-37EB-427C-9327-4B416145602B}" destId="{ECF322D7-2865-4065-BCC5-36C7AC7450BF}" srcOrd="1" destOrd="0" presId="urn:microsoft.com/office/officeart/2018/2/layout/IconVerticalSolidList"/>
    <dgm:cxn modelId="{D55B0CE6-4AFC-446E-AB33-6B0A9D1739A1}" type="presParOf" srcId="{CD61BE87-37EB-427C-9327-4B416145602B}" destId="{2DB0E5CD-27F1-4243-97BD-EED15ABAAEA3}" srcOrd="2" destOrd="0" presId="urn:microsoft.com/office/officeart/2018/2/layout/IconVerticalSolidList"/>
    <dgm:cxn modelId="{D2695E48-89C6-4FEE-AAB6-4AB1442115D4}" type="presParOf" srcId="{CD61BE87-37EB-427C-9327-4B416145602B}" destId="{BE47305D-FA82-444F-9E98-95117E78648E}" srcOrd="3" destOrd="0" presId="urn:microsoft.com/office/officeart/2018/2/layout/IconVerticalSolidList"/>
    <dgm:cxn modelId="{938CB2EC-549C-4FBF-B30C-3C6A5E82E09E}" type="presParOf" srcId="{4269FDDF-A10D-469F-98E2-B56625DDDFA2}" destId="{D52B1DC7-DE37-4FF0-96FC-152654B6F74C}" srcOrd="3" destOrd="0" presId="urn:microsoft.com/office/officeart/2018/2/layout/IconVerticalSolidList"/>
    <dgm:cxn modelId="{D56C548E-A294-4644-99A2-D8BA260F9079}" type="presParOf" srcId="{4269FDDF-A10D-469F-98E2-B56625DDDFA2}" destId="{CB30EAA9-7340-4D4F-BC0F-A1BB33A406A4}" srcOrd="4" destOrd="0" presId="urn:microsoft.com/office/officeart/2018/2/layout/IconVerticalSolidList"/>
    <dgm:cxn modelId="{3DE6666D-C49F-419D-BC30-1FE9653CEAB3}" type="presParOf" srcId="{CB30EAA9-7340-4D4F-BC0F-A1BB33A406A4}" destId="{80F9AD35-C559-45FA-A8A9-1B12DCEBFBFE}" srcOrd="0" destOrd="0" presId="urn:microsoft.com/office/officeart/2018/2/layout/IconVerticalSolidList"/>
    <dgm:cxn modelId="{3C71F79C-82C0-49B9-AC86-735DE69CBF3E}" type="presParOf" srcId="{CB30EAA9-7340-4D4F-BC0F-A1BB33A406A4}" destId="{AA66A74D-3A2A-4CEE-8A75-3CA650BDD1E0}" srcOrd="1" destOrd="0" presId="urn:microsoft.com/office/officeart/2018/2/layout/IconVerticalSolidList"/>
    <dgm:cxn modelId="{19642F59-F9A2-4AF6-B1CD-BEE5C6D90D19}" type="presParOf" srcId="{CB30EAA9-7340-4D4F-BC0F-A1BB33A406A4}" destId="{DE63DDD5-D23F-42F3-A723-2A2E22AF5D5C}" srcOrd="2" destOrd="0" presId="urn:microsoft.com/office/officeart/2018/2/layout/IconVerticalSolidList"/>
    <dgm:cxn modelId="{942E4FD8-A9A2-42E7-A6F3-CA859953042D}" type="presParOf" srcId="{CB30EAA9-7340-4D4F-BC0F-A1BB33A406A4}" destId="{A7E05158-A7F2-4B02-8804-FA10307EE62D}" srcOrd="3" destOrd="0" presId="urn:microsoft.com/office/officeart/2018/2/layout/IconVerticalSolidList"/>
    <dgm:cxn modelId="{34CA7BDF-7C16-4E56-BE68-848EE88F902E}" type="presParOf" srcId="{4269FDDF-A10D-469F-98E2-B56625DDDFA2}" destId="{5BBE1032-2E65-4BBF-89FC-8FD3D685CB53}" srcOrd="5" destOrd="0" presId="urn:microsoft.com/office/officeart/2018/2/layout/IconVerticalSolidList"/>
    <dgm:cxn modelId="{CCE94D9C-E6C5-4D81-89C5-5EE5F8A89345}" type="presParOf" srcId="{4269FDDF-A10D-469F-98E2-B56625DDDFA2}" destId="{8C987831-F456-4B48-9834-EC8F1849CA9E}" srcOrd="6" destOrd="0" presId="urn:microsoft.com/office/officeart/2018/2/layout/IconVerticalSolidList"/>
    <dgm:cxn modelId="{E04F593F-DC68-4CA8-8697-B1A272C401C8}" type="presParOf" srcId="{8C987831-F456-4B48-9834-EC8F1849CA9E}" destId="{941DCDF3-1602-4894-917F-1E4CAF0B3DA5}" srcOrd="0" destOrd="0" presId="urn:microsoft.com/office/officeart/2018/2/layout/IconVerticalSolidList"/>
    <dgm:cxn modelId="{D9B84C14-C43A-44A1-95EC-4585A0C67010}" type="presParOf" srcId="{8C987831-F456-4B48-9834-EC8F1849CA9E}" destId="{20899B01-5B77-4F14-B0BD-461096266CFC}" srcOrd="1" destOrd="0" presId="urn:microsoft.com/office/officeart/2018/2/layout/IconVerticalSolidList"/>
    <dgm:cxn modelId="{9EC87F90-9F67-4610-9B0E-B44887982FA6}" type="presParOf" srcId="{8C987831-F456-4B48-9834-EC8F1849CA9E}" destId="{691954D3-2931-4451-8E7E-EA327386B324}" srcOrd="2" destOrd="0" presId="urn:microsoft.com/office/officeart/2018/2/layout/IconVerticalSolidList"/>
    <dgm:cxn modelId="{A66AC3A1-67D0-437E-B585-44F3C4AF6057}" type="presParOf" srcId="{8C987831-F456-4B48-9834-EC8F1849CA9E}" destId="{2CC1B1B4-BD88-4A97-A870-1609B53B8FD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E598AB-E641-4762-877D-093B34C33A7E}" type="doc">
      <dgm:prSet loTypeId="urn:microsoft.com/office/officeart/2018/2/layout/IconVerticalSolidList" loCatId="icon" qsTypeId="urn:microsoft.com/office/officeart/2005/8/quickstyle/simple1#39" qsCatId="simple" csTypeId="urn:microsoft.com/office/officeart/2018/5/colors/Iconchunking_neutralicontext_colorful1" csCatId="colorful" phldr="1"/>
      <dgm:spPr/>
      <dgm:t>
        <a:bodyPr/>
        <a:lstStyle/>
        <a:p>
          <a:endParaRPr lang="en-US"/>
        </a:p>
      </dgm:t>
    </dgm:pt>
    <dgm:pt modelId="{4608C9CC-67EC-4092-96B1-89628E433D71}">
      <dgm:prSet/>
      <dgm:spPr/>
      <dgm:t>
        <a:bodyPr/>
        <a:lstStyle/>
        <a:p>
          <a:r>
            <a:rPr lang="en-US" b="0" i="0" baseline="0"/>
            <a:t>Employee awareness is a major human factor related to cybersecurity. </a:t>
          </a:r>
          <a:endParaRPr lang="en-US"/>
        </a:p>
      </dgm:t>
    </dgm:pt>
    <dgm:pt modelId="{4424CD51-CCC4-4542-8DAC-517328DB907F}" type="parTrans" cxnId="{6E10058F-B92E-4CB9-A808-A963F1529F62}">
      <dgm:prSet/>
      <dgm:spPr/>
      <dgm:t>
        <a:bodyPr/>
        <a:lstStyle/>
        <a:p>
          <a:endParaRPr lang="en-US"/>
        </a:p>
      </dgm:t>
    </dgm:pt>
    <dgm:pt modelId="{5B464E84-339B-48CF-BE87-E3BDF7F93ADB}" type="sibTrans" cxnId="{6E10058F-B92E-4CB9-A808-A963F1529F62}">
      <dgm:prSet/>
      <dgm:spPr/>
      <dgm:t>
        <a:bodyPr/>
        <a:lstStyle/>
        <a:p>
          <a:endParaRPr lang="en-US"/>
        </a:p>
      </dgm:t>
    </dgm:pt>
    <dgm:pt modelId="{8C23E327-579C-46CA-B2F5-0B3615B6C68B}">
      <dgm:prSet/>
      <dgm:spPr/>
      <dgm:t>
        <a:bodyPr/>
        <a:lstStyle/>
        <a:p>
          <a:r>
            <a:rPr lang="en-US" b="0" i="0" baseline="0"/>
            <a:t>Human behaviour can influence the vulnerability of organisations to cyber threats. </a:t>
          </a:r>
          <a:endParaRPr lang="en-US"/>
        </a:p>
      </dgm:t>
    </dgm:pt>
    <dgm:pt modelId="{715B2ED0-DFE1-4009-AA5F-4801020E1087}" type="parTrans" cxnId="{44569D68-0705-41E4-ABEF-5525CA86FFE6}">
      <dgm:prSet/>
      <dgm:spPr/>
      <dgm:t>
        <a:bodyPr/>
        <a:lstStyle/>
        <a:p>
          <a:endParaRPr lang="en-US"/>
        </a:p>
      </dgm:t>
    </dgm:pt>
    <dgm:pt modelId="{D74033DB-A739-4B69-97BA-76536DFFD6F5}" type="sibTrans" cxnId="{44569D68-0705-41E4-ABEF-5525CA86FFE6}">
      <dgm:prSet/>
      <dgm:spPr/>
      <dgm:t>
        <a:bodyPr/>
        <a:lstStyle/>
        <a:p>
          <a:endParaRPr lang="en-US"/>
        </a:p>
      </dgm:t>
    </dgm:pt>
    <dgm:pt modelId="{B248D60B-E48D-40CE-815D-75D21755CB43}">
      <dgm:prSet/>
      <dgm:spPr/>
      <dgm:t>
        <a:bodyPr/>
        <a:lstStyle/>
        <a:p>
          <a:r>
            <a:rPr lang="en-US" b="0" i="0" baseline="0"/>
            <a:t>Proper awareness requires continuous organisational support and involvement. </a:t>
          </a:r>
          <a:endParaRPr lang="en-US"/>
        </a:p>
      </dgm:t>
    </dgm:pt>
    <dgm:pt modelId="{8C17AD13-67CA-4F43-8AA9-4162ED44BB42}" type="parTrans" cxnId="{ED334A9B-BAF6-47B2-82BC-AE193817B731}">
      <dgm:prSet/>
      <dgm:spPr/>
      <dgm:t>
        <a:bodyPr/>
        <a:lstStyle/>
        <a:p>
          <a:endParaRPr lang="en-US"/>
        </a:p>
      </dgm:t>
    </dgm:pt>
    <dgm:pt modelId="{BDAA316B-1FEE-463C-9462-E9A3B5D86AEC}" type="sibTrans" cxnId="{ED334A9B-BAF6-47B2-82BC-AE193817B731}">
      <dgm:prSet/>
      <dgm:spPr/>
      <dgm:t>
        <a:bodyPr/>
        <a:lstStyle/>
        <a:p>
          <a:endParaRPr lang="en-US"/>
        </a:p>
      </dgm:t>
    </dgm:pt>
    <dgm:pt modelId="{0A38AADE-DFB6-4A8C-9616-51AAABF50F0B}">
      <dgm:prSet/>
      <dgm:spPr/>
      <dgm:t>
        <a:bodyPr/>
        <a:lstStyle/>
        <a:p>
          <a:r>
            <a:rPr lang="en-US" b="0" i="0" baseline="0"/>
            <a:t>The effectiveness of awareness programmes over time requires further research in the future.  </a:t>
          </a:r>
          <a:endParaRPr lang="en-US"/>
        </a:p>
      </dgm:t>
    </dgm:pt>
    <dgm:pt modelId="{D846945E-4A8B-40E8-A1C9-75F8FCBDC36F}" type="parTrans" cxnId="{92B36B11-B070-410C-95E6-5FEE0ED92424}">
      <dgm:prSet/>
      <dgm:spPr/>
      <dgm:t>
        <a:bodyPr/>
        <a:lstStyle/>
        <a:p>
          <a:endParaRPr lang="en-US"/>
        </a:p>
      </dgm:t>
    </dgm:pt>
    <dgm:pt modelId="{55F68A40-F96B-4203-ABA8-E64DBB09FC26}" type="sibTrans" cxnId="{92B36B11-B070-410C-95E6-5FEE0ED92424}">
      <dgm:prSet/>
      <dgm:spPr/>
      <dgm:t>
        <a:bodyPr/>
        <a:lstStyle/>
        <a:p>
          <a:endParaRPr lang="en-US"/>
        </a:p>
      </dgm:t>
    </dgm:pt>
    <dgm:pt modelId="{A76AC678-0BA8-4654-9300-1258F604E7E3}" type="pres">
      <dgm:prSet presAssocID="{74E598AB-E641-4762-877D-093B34C33A7E}" presName="root" presStyleCnt="0">
        <dgm:presLayoutVars>
          <dgm:dir/>
          <dgm:resizeHandles val="exact"/>
        </dgm:presLayoutVars>
      </dgm:prSet>
      <dgm:spPr/>
    </dgm:pt>
    <dgm:pt modelId="{BFAD3052-B431-4631-B39A-EDBCA9BAB324}" type="pres">
      <dgm:prSet presAssocID="{4608C9CC-67EC-4092-96B1-89628E433D71}" presName="compNode" presStyleCnt="0"/>
      <dgm:spPr/>
    </dgm:pt>
    <dgm:pt modelId="{E780B48B-1D98-4264-89F2-75EF8C2F967E}" type="pres">
      <dgm:prSet presAssocID="{4608C9CC-67EC-4092-96B1-89628E433D71}" presName="bgRect" presStyleLbl="bgShp" presStyleIdx="0" presStyleCnt="4"/>
      <dgm:spPr/>
    </dgm:pt>
    <dgm:pt modelId="{2898097F-4AD1-4886-BF24-AA4F8AF427B2}" type="pres">
      <dgm:prSet presAssocID="{4608C9CC-67EC-4092-96B1-89628E433D71}"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oud Computing"/>
        </a:ext>
      </dgm:extLst>
    </dgm:pt>
    <dgm:pt modelId="{289B7833-DD56-4561-B668-9F102A0635DC}" type="pres">
      <dgm:prSet presAssocID="{4608C9CC-67EC-4092-96B1-89628E433D71}" presName="spaceRect" presStyleCnt="0"/>
      <dgm:spPr/>
    </dgm:pt>
    <dgm:pt modelId="{3508323B-D48B-48B4-B188-5D06FED73FCA}" type="pres">
      <dgm:prSet presAssocID="{4608C9CC-67EC-4092-96B1-89628E433D71}" presName="parTx" presStyleLbl="revTx" presStyleIdx="0" presStyleCnt="4">
        <dgm:presLayoutVars>
          <dgm:chMax val="0"/>
          <dgm:chPref val="0"/>
        </dgm:presLayoutVars>
      </dgm:prSet>
      <dgm:spPr/>
    </dgm:pt>
    <dgm:pt modelId="{0376CF0E-ADBE-4F03-A35F-55F88AC18497}" type="pres">
      <dgm:prSet presAssocID="{5B464E84-339B-48CF-BE87-E3BDF7F93ADB}" presName="sibTrans" presStyleCnt="0"/>
      <dgm:spPr/>
    </dgm:pt>
    <dgm:pt modelId="{B026AB99-7887-4947-9CB3-6AD9BEFF54DB}" type="pres">
      <dgm:prSet presAssocID="{8C23E327-579C-46CA-B2F5-0B3615B6C68B}" presName="compNode" presStyleCnt="0"/>
      <dgm:spPr/>
    </dgm:pt>
    <dgm:pt modelId="{AD259084-1535-4460-B823-A94A88B7C0FF}" type="pres">
      <dgm:prSet presAssocID="{8C23E327-579C-46CA-B2F5-0B3615B6C68B}" presName="bgRect" presStyleLbl="bgShp" presStyleIdx="1" presStyleCnt="4"/>
      <dgm:spPr/>
    </dgm:pt>
    <dgm:pt modelId="{81825E77-6ABD-4E41-85C2-5DACAB7637B5}" type="pres">
      <dgm:prSet presAssocID="{8C23E327-579C-46CA-B2F5-0B3615B6C68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nger"/>
        </a:ext>
      </dgm:extLst>
    </dgm:pt>
    <dgm:pt modelId="{661EDA2B-D6ED-4839-AEE2-BC95A50C7A03}" type="pres">
      <dgm:prSet presAssocID="{8C23E327-579C-46CA-B2F5-0B3615B6C68B}" presName="spaceRect" presStyleCnt="0"/>
      <dgm:spPr/>
    </dgm:pt>
    <dgm:pt modelId="{32B70011-5DAF-4CB9-A089-494C01748E52}" type="pres">
      <dgm:prSet presAssocID="{8C23E327-579C-46CA-B2F5-0B3615B6C68B}" presName="parTx" presStyleLbl="revTx" presStyleIdx="1" presStyleCnt="4">
        <dgm:presLayoutVars>
          <dgm:chMax val="0"/>
          <dgm:chPref val="0"/>
        </dgm:presLayoutVars>
      </dgm:prSet>
      <dgm:spPr/>
    </dgm:pt>
    <dgm:pt modelId="{790C06DF-5F08-4FB6-A065-B1CF2E369368}" type="pres">
      <dgm:prSet presAssocID="{D74033DB-A739-4B69-97BA-76536DFFD6F5}" presName="sibTrans" presStyleCnt="0"/>
      <dgm:spPr/>
    </dgm:pt>
    <dgm:pt modelId="{0CBC4BD9-F1FB-4CC0-85BD-509EDE75DD10}" type="pres">
      <dgm:prSet presAssocID="{B248D60B-E48D-40CE-815D-75D21755CB43}" presName="compNode" presStyleCnt="0"/>
      <dgm:spPr/>
    </dgm:pt>
    <dgm:pt modelId="{C2B76D93-2D85-4A80-B9B2-A1C3638F1C31}" type="pres">
      <dgm:prSet presAssocID="{B248D60B-E48D-40CE-815D-75D21755CB43}" presName="bgRect" presStyleLbl="bgShp" presStyleIdx="2" presStyleCnt="4"/>
      <dgm:spPr/>
    </dgm:pt>
    <dgm:pt modelId="{15A54CBA-A516-48E3-965B-46AA60979DC0}" type="pres">
      <dgm:prSet presAssocID="{B248D60B-E48D-40CE-815D-75D21755CB4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s"/>
        </a:ext>
      </dgm:extLst>
    </dgm:pt>
    <dgm:pt modelId="{00E5F4F7-A1AF-4260-8916-E4154E6343F0}" type="pres">
      <dgm:prSet presAssocID="{B248D60B-E48D-40CE-815D-75D21755CB43}" presName="spaceRect" presStyleCnt="0"/>
      <dgm:spPr/>
    </dgm:pt>
    <dgm:pt modelId="{734EDDDD-18C1-4649-BD5C-E77547A24736}" type="pres">
      <dgm:prSet presAssocID="{B248D60B-E48D-40CE-815D-75D21755CB43}" presName="parTx" presStyleLbl="revTx" presStyleIdx="2" presStyleCnt="4">
        <dgm:presLayoutVars>
          <dgm:chMax val="0"/>
          <dgm:chPref val="0"/>
        </dgm:presLayoutVars>
      </dgm:prSet>
      <dgm:spPr/>
    </dgm:pt>
    <dgm:pt modelId="{5FB31A62-AF06-4738-BB13-FB799263B80E}" type="pres">
      <dgm:prSet presAssocID="{BDAA316B-1FEE-463C-9462-E9A3B5D86AEC}" presName="sibTrans" presStyleCnt="0"/>
      <dgm:spPr/>
    </dgm:pt>
    <dgm:pt modelId="{58B72D00-0597-4737-BCF1-0135B7ED8F4E}" type="pres">
      <dgm:prSet presAssocID="{0A38AADE-DFB6-4A8C-9616-51AAABF50F0B}" presName="compNode" presStyleCnt="0"/>
      <dgm:spPr/>
    </dgm:pt>
    <dgm:pt modelId="{1614C8EB-4B64-49B9-B169-9062573E948F}" type="pres">
      <dgm:prSet presAssocID="{0A38AADE-DFB6-4A8C-9616-51AAABF50F0B}" presName="bgRect" presStyleLbl="bgShp" presStyleIdx="3" presStyleCnt="4"/>
      <dgm:spPr/>
    </dgm:pt>
    <dgm:pt modelId="{48BA7592-FF1E-4F60-992A-6C7CBDA3100B}" type="pres">
      <dgm:prSet presAssocID="{0A38AADE-DFB6-4A8C-9616-51AAABF50F0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640220F5-53D7-488D-9223-69700CD9DC48}" type="pres">
      <dgm:prSet presAssocID="{0A38AADE-DFB6-4A8C-9616-51AAABF50F0B}" presName="spaceRect" presStyleCnt="0"/>
      <dgm:spPr/>
    </dgm:pt>
    <dgm:pt modelId="{B8385E74-AF21-432F-AC00-88A318858391}" type="pres">
      <dgm:prSet presAssocID="{0A38AADE-DFB6-4A8C-9616-51AAABF50F0B}" presName="parTx" presStyleLbl="revTx" presStyleIdx="3" presStyleCnt="4">
        <dgm:presLayoutVars>
          <dgm:chMax val="0"/>
          <dgm:chPref val="0"/>
        </dgm:presLayoutVars>
      </dgm:prSet>
      <dgm:spPr/>
    </dgm:pt>
  </dgm:ptLst>
  <dgm:cxnLst>
    <dgm:cxn modelId="{92B36B11-B070-410C-95E6-5FEE0ED92424}" srcId="{74E598AB-E641-4762-877D-093B34C33A7E}" destId="{0A38AADE-DFB6-4A8C-9616-51AAABF50F0B}" srcOrd="3" destOrd="0" parTransId="{D846945E-4A8B-40E8-A1C9-75F8FCBDC36F}" sibTransId="{55F68A40-F96B-4203-ABA8-E64DBB09FC26}"/>
    <dgm:cxn modelId="{F0F3A81C-1BB1-4D8E-A725-8538C334DC4F}" type="presOf" srcId="{0A38AADE-DFB6-4A8C-9616-51AAABF50F0B}" destId="{B8385E74-AF21-432F-AC00-88A318858391}" srcOrd="0" destOrd="0" presId="urn:microsoft.com/office/officeart/2018/2/layout/IconVerticalSolidList"/>
    <dgm:cxn modelId="{662DDB1F-1473-47EB-B93C-0276A7D55BC6}" type="presOf" srcId="{4608C9CC-67EC-4092-96B1-89628E433D71}" destId="{3508323B-D48B-48B4-B188-5D06FED73FCA}" srcOrd="0" destOrd="0" presId="urn:microsoft.com/office/officeart/2018/2/layout/IconVerticalSolidList"/>
    <dgm:cxn modelId="{44569D68-0705-41E4-ABEF-5525CA86FFE6}" srcId="{74E598AB-E641-4762-877D-093B34C33A7E}" destId="{8C23E327-579C-46CA-B2F5-0B3615B6C68B}" srcOrd="1" destOrd="0" parTransId="{715B2ED0-DFE1-4009-AA5F-4801020E1087}" sibTransId="{D74033DB-A739-4B69-97BA-76536DFFD6F5}"/>
    <dgm:cxn modelId="{0763FE49-43BE-44E1-8576-1B2A53076D42}" type="presOf" srcId="{8C23E327-579C-46CA-B2F5-0B3615B6C68B}" destId="{32B70011-5DAF-4CB9-A089-494C01748E52}" srcOrd="0" destOrd="0" presId="urn:microsoft.com/office/officeart/2018/2/layout/IconVerticalSolidList"/>
    <dgm:cxn modelId="{87AF2E50-A691-448D-B248-BFA5279CB6B9}" type="presOf" srcId="{74E598AB-E641-4762-877D-093B34C33A7E}" destId="{A76AC678-0BA8-4654-9300-1258F604E7E3}" srcOrd="0" destOrd="0" presId="urn:microsoft.com/office/officeart/2018/2/layout/IconVerticalSolidList"/>
    <dgm:cxn modelId="{81A1DB81-B91B-48F7-BCE3-1C6DE0509EF3}" type="presOf" srcId="{B248D60B-E48D-40CE-815D-75D21755CB43}" destId="{734EDDDD-18C1-4649-BD5C-E77547A24736}" srcOrd="0" destOrd="0" presId="urn:microsoft.com/office/officeart/2018/2/layout/IconVerticalSolidList"/>
    <dgm:cxn modelId="{6E10058F-B92E-4CB9-A808-A963F1529F62}" srcId="{74E598AB-E641-4762-877D-093B34C33A7E}" destId="{4608C9CC-67EC-4092-96B1-89628E433D71}" srcOrd="0" destOrd="0" parTransId="{4424CD51-CCC4-4542-8DAC-517328DB907F}" sibTransId="{5B464E84-339B-48CF-BE87-E3BDF7F93ADB}"/>
    <dgm:cxn modelId="{ED334A9B-BAF6-47B2-82BC-AE193817B731}" srcId="{74E598AB-E641-4762-877D-093B34C33A7E}" destId="{B248D60B-E48D-40CE-815D-75D21755CB43}" srcOrd="2" destOrd="0" parTransId="{8C17AD13-67CA-4F43-8AA9-4162ED44BB42}" sibTransId="{BDAA316B-1FEE-463C-9462-E9A3B5D86AEC}"/>
    <dgm:cxn modelId="{82930C35-E8AA-43DA-B1D7-D049728091B1}" type="presParOf" srcId="{A76AC678-0BA8-4654-9300-1258F604E7E3}" destId="{BFAD3052-B431-4631-B39A-EDBCA9BAB324}" srcOrd="0" destOrd="0" presId="urn:microsoft.com/office/officeart/2018/2/layout/IconVerticalSolidList"/>
    <dgm:cxn modelId="{48AF5445-A004-4445-9C77-5089E72A9999}" type="presParOf" srcId="{BFAD3052-B431-4631-B39A-EDBCA9BAB324}" destId="{E780B48B-1D98-4264-89F2-75EF8C2F967E}" srcOrd="0" destOrd="0" presId="urn:microsoft.com/office/officeart/2018/2/layout/IconVerticalSolidList"/>
    <dgm:cxn modelId="{11198B13-C1CD-41BB-88B9-F5EDBAB5DEC7}" type="presParOf" srcId="{BFAD3052-B431-4631-B39A-EDBCA9BAB324}" destId="{2898097F-4AD1-4886-BF24-AA4F8AF427B2}" srcOrd="1" destOrd="0" presId="urn:microsoft.com/office/officeart/2018/2/layout/IconVerticalSolidList"/>
    <dgm:cxn modelId="{58D5DB7A-E328-4888-9A83-DA5771D48D14}" type="presParOf" srcId="{BFAD3052-B431-4631-B39A-EDBCA9BAB324}" destId="{289B7833-DD56-4561-B668-9F102A0635DC}" srcOrd="2" destOrd="0" presId="urn:microsoft.com/office/officeart/2018/2/layout/IconVerticalSolidList"/>
    <dgm:cxn modelId="{97BA3E70-8357-414D-9B69-00D5BA8CAF00}" type="presParOf" srcId="{BFAD3052-B431-4631-B39A-EDBCA9BAB324}" destId="{3508323B-D48B-48B4-B188-5D06FED73FCA}" srcOrd="3" destOrd="0" presId="urn:microsoft.com/office/officeart/2018/2/layout/IconVerticalSolidList"/>
    <dgm:cxn modelId="{488D230A-AED6-4141-BEF6-F92CBA9FDDD2}" type="presParOf" srcId="{A76AC678-0BA8-4654-9300-1258F604E7E3}" destId="{0376CF0E-ADBE-4F03-A35F-55F88AC18497}" srcOrd="1" destOrd="0" presId="urn:microsoft.com/office/officeart/2018/2/layout/IconVerticalSolidList"/>
    <dgm:cxn modelId="{02099E6D-1FBF-4E7B-BFF3-B2C147790090}" type="presParOf" srcId="{A76AC678-0BA8-4654-9300-1258F604E7E3}" destId="{B026AB99-7887-4947-9CB3-6AD9BEFF54DB}" srcOrd="2" destOrd="0" presId="urn:microsoft.com/office/officeart/2018/2/layout/IconVerticalSolidList"/>
    <dgm:cxn modelId="{1330B8BE-B32B-48B9-95B6-024E39FFB82D}" type="presParOf" srcId="{B026AB99-7887-4947-9CB3-6AD9BEFF54DB}" destId="{AD259084-1535-4460-B823-A94A88B7C0FF}" srcOrd="0" destOrd="0" presId="urn:microsoft.com/office/officeart/2018/2/layout/IconVerticalSolidList"/>
    <dgm:cxn modelId="{C58F8286-84F9-4353-9338-E8905B7935EF}" type="presParOf" srcId="{B026AB99-7887-4947-9CB3-6AD9BEFF54DB}" destId="{81825E77-6ABD-4E41-85C2-5DACAB7637B5}" srcOrd="1" destOrd="0" presId="urn:microsoft.com/office/officeart/2018/2/layout/IconVerticalSolidList"/>
    <dgm:cxn modelId="{3BFBEB3D-8495-403F-906C-3F6F1371F9E4}" type="presParOf" srcId="{B026AB99-7887-4947-9CB3-6AD9BEFF54DB}" destId="{661EDA2B-D6ED-4839-AEE2-BC95A50C7A03}" srcOrd="2" destOrd="0" presId="urn:microsoft.com/office/officeart/2018/2/layout/IconVerticalSolidList"/>
    <dgm:cxn modelId="{025262BB-B069-444C-8CA4-E8F180E3340F}" type="presParOf" srcId="{B026AB99-7887-4947-9CB3-6AD9BEFF54DB}" destId="{32B70011-5DAF-4CB9-A089-494C01748E52}" srcOrd="3" destOrd="0" presId="urn:microsoft.com/office/officeart/2018/2/layout/IconVerticalSolidList"/>
    <dgm:cxn modelId="{432CA3F7-0168-41A4-9D94-9F990801C7BA}" type="presParOf" srcId="{A76AC678-0BA8-4654-9300-1258F604E7E3}" destId="{790C06DF-5F08-4FB6-A065-B1CF2E369368}" srcOrd="3" destOrd="0" presId="urn:microsoft.com/office/officeart/2018/2/layout/IconVerticalSolidList"/>
    <dgm:cxn modelId="{DDF3573A-4420-40A5-B296-51716C58B785}" type="presParOf" srcId="{A76AC678-0BA8-4654-9300-1258F604E7E3}" destId="{0CBC4BD9-F1FB-4CC0-85BD-509EDE75DD10}" srcOrd="4" destOrd="0" presId="urn:microsoft.com/office/officeart/2018/2/layout/IconVerticalSolidList"/>
    <dgm:cxn modelId="{61712B2A-C1FD-4BAF-9C4F-14B335B43462}" type="presParOf" srcId="{0CBC4BD9-F1FB-4CC0-85BD-509EDE75DD10}" destId="{C2B76D93-2D85-4A80-B9B2-A1C3638F1C31}" srcOrd="0" destOrd="0" presId="urn:microsoft.com/office/officeart/2018/2/layout/IconVerticalSolidList"/>
    <dgm:cxn modelId="{FCBABDA0-79AE-4DFF-A799-D253E066998B}" type="presParOf" srcId="{0CBC4BD9-F1FB-4CC0-85BD-509EDE75DD10}" destId="{15A54CBA-A516-48E3-965B-46AA60979DC0}" srcOrd="1" destOrd="0" presId="urn:microsoft.com/office/officeart/2018/2/layout/IconVerticalSolidList"/>
    <dgm:cxn modelId="{2F978BAD-19FE-4E72-BCDE-54AC3A7F368C}" type="presParOf" srcId="{0CBC4BD9-F1FB-4CC0-85BD-509EDE75DD10}" destId="{00E5F4F7-A1AF-4260-8916-E4154E6343F0}" srcOrd="2" destOrd="0" presId="urn:microsoft.com/office/officeart/2018/2/layout/IconVerticalSolidList"/>
    <dgm:cxn modelId="{E479A351-FCFF-495D-8AFC-DCBB212B0E83}" type="presParOf" srcId="{0CBC4BD9-F1FB-4CC0-85BD-509EDE75DD10}" destId="{734EDDDD-18C1-4649-BD5C-E77547A24736}" srcOrd="3" destOrd="0" presId="urn:microsoft.com/office/officeart/2018/2/layout/IconVerticalSolidList"/>
    <dgm:cxn modelId="{216BC537-03CD-4FBF-BE6E-A42905B16AC2}" type="presParOf" srcId="{A76AC678-0BA8-4654-9300-1258F604E7E3}" destId="{5FB31A62-AF06-4738-BB13-FB799263B80E}" srcOrd="5" destOrd="0" presId="urn:microsoft.com/office/officeart/2018/2/layout/IconVerticalSolidList"/>
    <dgm:cxn modelId="{3F4720A4-EAE0-4EA4-B2C2-4275BE75B107}" type="presParOf" srcId="{A76AC678-0BA8-4654-9300-1258F604E7E3}" destId="{58B72D00-0597-4737-BCF1-0135B7ED8F4E}" srcOrd="6" destOrd="0" presId="urn:microsoft.com/office/officeart/2018/2/layout/IconVerticalSolidList"/>
    <dgm:cxn modelId="{92489F90-103B-44F0-BFE6-27FCD4B2540F}" type="presParOf" srcId="{58B72D00-0597-4737-BCF1-0135B7ED8F4E}" destId="{1614C8EB-4B64-49B9-B169-9062573E948F}" srcOrd="0" destOrd="0" presId="urn:microsoft.com/office/officeart/2018/2/layout/IconVerticalSolidList"/>
    <dgm:cxn modelId="{2553EBB2-7662-4870-95AF-098943C65E7D}" type="presParOf" srcId="{58B72D00-0597-4737-BCF1-0135B7ED8F4E}" destId="{48BA7592-FF1E-4F60-992A-6C7CBDA3100B}" srcOrd="1" destOrd="0" presId="urn:microsoft.com/office/officeart/2018/2/layout/IconVerticalSolidList"/>
    <dgm:cxn modelId="{D6B8CD25-1733-4371-8BF3-4F03E693F88B}" type="presParOf" srcId="{58B72D00-0597-4737-BCF1-0135B7ED8F4E}" destId="{640220F5-53D7-488D-9223-69700CD9DC48}" srcOrd="2" destOrd="0" presId="urn:microsoft.com/office/officeart/2018/2/layout/IconVerticalSolidList"/>
    <dgm:cxn modelId="{EAFC3434-16E9-46E4-88FC-F07702FAF44B}" type="presParOf" srcId="{58B72D00-0597-4737-BCF1-0135B7ED8F4E}" destId="{B8385E74-AF21-432F-AC00-88A318858391}"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1CC08B-1F24-4F2D-9624-BE16CBB3BB6C}">
      <dsp:nvSpPr>
        <dsp:cNvPr id="0" name=""/>
        <dsp:cNvSpPr/>
      </dsp:nvSpPr>
      <dsp:spPr>
        <a:xfrm>
          <a:off x="0" y="1945"/>
          <a:ext cx="5906327" cy="985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F9A0C0-2A48-4A1F-A80C-79E0386524B3}">
      <dsp:nvSpPr>
        <dsp:cNvPr id="0" name=""/>
        <dsp:cNvSpPr/>
      </dsp:nvSpPr>
      <dsp:spPr>
        <a:xfrm>
          <a:off x="298217" y="223759"/>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7C3088A-462A-4BD2-8CC6-C35E216BA52C}">
      <dsp:nvSpPr>
        <dsp:cNvPr id="0" name=""/>
        <dsp:cNvSpPr/>
      </dsp:nvSpPr>
      <dsp:spPr>
        <a:xfrm>
          <a:off x="1138648" y="1945"/>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The study focuses on how well the employees are aware of the practice of cybersecurity within the organisation. </a:t>
          </a:r>
          <a:endParaRPr lang="en-US" sz="1800" kern="1200"/>
        </a:p>
      </dsp:txBody>
      <dsp:txXfrm>
        <a:off x="1138648" y="1945"/>
        <a:ext cx="4767679" cy="985843"/>
      </dsp:txXfrm>
    </dsp:sp>
    <dsp:sp modelId="{0A2EB954-46BC-49F0-BF73-997570F9EB02}">
      <dsp:nvSpPr>
        <dsp:cNvPr id="0" name=""/>
        <dsp:cNvSpPr/>
      </dsp:nvSpPr>
      <dsp:spPr>
        <a:xfrm>
          <a:off x="0" y="1234249"/>
          <a:ext cx="5906327" cy="985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F322D7-2865-4065-BCC5-36C7AC7450BF}">
      <dsp:nvSpPr>
        <dsp:cNvPr id="0" name=""/>
        <dsp:cNvSpPr/>
      </dsp:nvSpPr>
      <dsp:spPr>
        <a:xfrm>
          <a:off x="298217" y="1456063"/>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47305D-FA82-444F-9E98-95117E78648E}">
      <dsp:nvSpPr>
        <dsp:cNvPr id="0" name=""/>
        <dsp:cNvSpPr/>
      </dsp:nvSpPr>
      <dsp:spPr>
        <a:xfrm>
          <a:off x="1138648" y="1234249"/>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It looks at typical human elements that contribute to cybersecurity threats. </a:t>
          </a:r>
          <a:endParaRPr lang="en-US" sz="1800" kern="1200"/>
        </a:p>
      </dsp:txBody>
      <dsp:txXfrm>
        <a:off x="1138648" y="1234249"/>
        <a:ext cx="4767679" cy="985843"/>
      </dsp:txXfrm>
    </dsp:sp>
    <dsp:sp modelId="{80F9AD35-C559-45FA-A8A9-1B12DCEBFBFE}">
      <dsp:nvSpPr>
        <dsp:cNvPr id="0" name=""/>
        <dsp:cNvSpPr/>
      </dsp:nvSpPr>
      <dsp:spPr>
        <a:xfrm>
          <a:off x="0" y="2466552"/>
          <a:ext cx="5906327" cy="985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66A74D-3A2A-4CEE-8A75-3CA650BDD1E0}">
      <dsp:nvSpPr>
        <dsp:cNvPr id="0" name=""/>
        <dsp:cNvSpPr/>
      </dsp:nvSpPr>
      <dsp:spPr>
        <a:xfrm>
          <a:off x="298217" y="2688367"/>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7E05158-A7F2-4B02-8804-FA10307EE62D}">
      <dsp:nvSpPr>
        <dsp:cNvPr id="0" name=""/>
        <dsp:cNvSpPr/>
      </dsp:nvSpPr>
      <dsp:spPr>
        <a:xfrm>
          <a:off x="1138648" y="2466552"/>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It measures effectiveness of awareness programmes in past research studies. </a:t>
          </a:r>
          <a:endParaRPr lang="en-US" sz="1800" kern="1200"/>
        </a:p>
      </dsp:txBody>
      <dsp:txXfrm>
        <a:off x="1138648" y="2466552"/>
        <a:ext cx="4767679" cy="985843"/>
      </dsp:txXfrm>
    </dsp:sp>
    <dsp:sp modelId="{941DCDF3-1602-4894-917F-1E4CAF0B3DA5}">
      <dsp:nvSpPr>
        <dsp:cNvPr id="0" name=""/>
        <dsp:cNvSpPr/>
      </dsp:nvSpPr>
      <dsp:spPr>
        <a:xfrm>
          <a:off x="0" y="3698856"/>
          <a:ext cx="5906327" cy="985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899B01-5B77-4F14-B0BD-461096266CFC}">
      <dsp:nvSpPr>
        <dsp:cNvPr id="0" name=""/>
        <dsp:cNvSpPr/>
      </dsp:nvSpPr>
      <dsp:spPr>
        <a:xfrm>
          <a:off x="298217" y="3920671"/>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CC1B1B4-BD88-4A97-A870-1609B53B8FD0}">
      <dsp:nvSpPr>
        <dsp:cNvPr id="0" name=""/>
        <dsp:cNvSpPr/>
      </dsp:nvSpPr>
      <dsp:spPr>
        <a:xfrm>
          <a:off x="1138648" y="3698856"/>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It develops recommendations on how to make employees more aware of cybersecurity. </a:t>
          </a:r>
          <a:endParaRPr lang="en-US" sz="1800" kern="1200"/>
        </a:p>
      </dsp:txBody>
      <dsp:txXfrm>
        <a:off x="1138648" y="3698856"/>
        <a:ext cx="4767679" cy="985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80B48B-1D98-4264-89F2-75EF8C2F967E}">
      <dsp:nvSpPr>
        <dsp:cNvPr id="0" name=""/>
        <dsp:cNvSpPr/>
      </dsp:nvSpPr>
      <dsp:spPr>
        <a:xfrm>
          <a:off x="0" y="1945"/>
          <a:ext cx="5906327" cy="985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98097F-4AD1-4886-BF24-AA4F8AF427B2}">
      <dsp:nvSpPr>
        <dsp:cNvPr id="0" name=""/>
        <dsp:cNvSpPr/>
      </dsp:nvSpPr>
      <dsp:spPr>
        <a:xfrm>
          <a:off x="298217" y="223759"/>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508323B-D48B-48B4-B188-5D06FED73FCA}">
      <dsp:nvSpPr>
        <dsp:cNvPr id="0" name=""/>
        <dsp:cNvSpPr/>
      </dsp:nvSpPr>
      <dsp:spPr>
        <a:xfrm>
          <a:off x="1138648" y="1945"/>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Employee awareness is a major human factor related to cybersecurity. </a:t>
          </a:r>
          <a:endParaRPr lang="en-US" sz="1800" kern="1200"/>
        </a:p>
      </dsp:txBody>
      <dsp:txXfrm>
        <a:off x="1138648" y="1945"/>
        <a:ext cx="4767679" cy="985843"/>
      </dsp:txXfrm>
    </dsp:sp>
    <dsp:sp modelId="{AD259084-1535-4460-B823-A94A88B7C0FF}">
      <dsp:nvSpPr>
        <dsp:cNvPr id="0" name=""/>
        <dsp:cNvSpPr/>
      </dsp:nvSpPr>
      <dsp:spPr>
        <a:xfrm>
          <a:off x="0" y="1234249"/>
          <a:ext cx="5906327" cy="985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825E77-6ABD-4E41-85C2-5DACAB7637B5}">
      <dsp:nvSpPr>
        <dsp:cNvPr id="0" name=""/>
        <dsp:cNvSpPr/>
      </dsp:nvSpPr>
      <dsp:spPr>
        <a:xfrm>
          <a:off x="298217" y="1456063"/>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2B70011-5DAF-4CB9-A089-494C01748E52}">
      <dsp:nvSpPr>
        <dsp:cNvPr id="0" name=""/>
        <dsp:cNvSpPr/>
      </dsp:nvSpPr>
      <dsp:spPr>
        <a:xfrm>
          <a:off x="1138648" y="1234249"/>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Human behaviour can influence the vulnerability of organisations to cyber threats. </a:t>
          </a:r>
          <a:endParaRPr lang="en-US" sz="1800" kern="1200"/>
        </a:p>
      </dsp:txBody>
      <dsp:txXfrm>
        <a:off x="1138648" y="1234249"/>
        <a:ext cx="4767679" cy="985843"/>
      </dsp:txXfrm>
    </dsp:sp>
    <dsp:sp modelId="{C2B76D93-2D85-4A80-B9B2-A1C3638F1C31}">
      <dsp:nvSpPr>
        <dsp:cNvPr id="0" name=""/>
        <dsp:cNvSpPr/>
      </dsp:nvSpPr>
      <dsp:spPr>
        <a:xfrm>
          <a:off x="0" y="2466552"/>
          <a:ext cx="5906327" cy="985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A54CBA-A516-48E3-965B-46AA60979DC0}">
      <dsp:nvSpPr>
        <dsp:cNvPr id="0" name=""/>
        <dsp:cNvSpPr/>
      </dsp:nvSpPr>
      <dsp:spPr>
        <a:xfrm>
          <a:off x="298217" y="2688367"/>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34EDDDD-18C1-4649-BD5C-E77547A24736}">
      <dsp:nvSpPr>
        <dsp:cNvPr id="0" name=""/>
        <dsp:cNvSpPr/>
      </dsp:nvSpPr>
      <dsp:spPr>
        <a:xfrm>
          <a:off x="1138648" y="2466552"/>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Proper awareness requires continuous organisational support and involvement. </a:t>
          </a:r>
          <a:endParaRPr lang="en-US" sz="1800" kern="1200"/>
        </a:p>
      </dsp:txBody>
      <dsp:txXfrm>
        <a:off x="1138648" y="2466552"/>
        <a:ext cx="4767679" cy="985843"/>
      </dsp:txXfrm>
    </dsp:sp>
    <dsp:sp modelId="{1614C8EB-4B64-49B9-B169-9062573E948F}">
      <dsp:nvSpPr>
        <dsp:cNvPr id="0" name=""/>
        <dsp:cNvSpPr/>
      </dsp:nvSpPr>
      <dsp:spPr>
        <a:xfrm>
          <a:off x="0" y="3698856"/>
          <a:ext cx="5906327" cy="985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BA7592-FF1E-4F60-992A-6C7CBDA3100B}">
      <dsp:nvSpPr>
        <dsp:cNvPr id="0" name=""/>
        <dsp:cNvSpPr/>
      </dsp:nvSpPr>
      <dsp:spPr>
        <a:xfrm>
          <a:off x="298217" y="3920671"/>
          <a:ext cx="542213" cy="5422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8385E74-AF21-432F-AC00-88A318858391}">
      <dsp:nvSpPr>
        <dsp:cNvPr id="0" name=""/>
        <dsp:cNvSpPr/>
      </dsp:nvSpPr>
      <dsp:spPr>
        <a:xfrm>
          <a:off x="1138648" y="3698856"/>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800100">
            <a:lnSpc>
              <a:spcPct val="90000"/>
            </a:lnSpc>
            <a:spcBef>
              <a:spcPct val="0"/>
            </a:spcBef>
            <a:spcAft>
              <a:spcPct val="35000"/>
            </a:spcAft>
            <a:buNone/>
          </a:pPr>
          <a:r>
            <a:rPr lang="en-US" sz="1800" b="0" i="0" kern="1200" baseline="0"/>
            <a:t>The effectiveness of awareness programmes over time requires further research in the future.  </a:t>
          </a:r>
          <a:endParaRPr lang="en-US" sz="1800" kern="1200"/>
        </a:p>
      </dsp:txBody>
      <dsp:txXfrm>
        <a:off x="1138648" y="3698856"/>
        <a:ext cx="4767679" cy="9858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DCE87E-3DD3-4FED-883C-042043FC23B7}"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28961-A0A2-476B-AD7D-A958D043DB72}" type="slidenum">
              <a:rPr lang="en-US" smtClean="0"/>
              <a:t>‹#›</a:t>
            </a:fld>
            <a:endParaRPr lang="en-US"/>
          </a:p>
        </p:txBody>
      </p:sp>
    </p:spTree>
    <p:extLst>
      <p:ext uri="{BB962C8B-B14F-4D97-AF65-F5344CB8AC3E}">
        <p14:creationId xmlns:p14="http://schemas.microsoft.com/office/powerpoint/2010/main" val="4199455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“Good morning everyone. Today I am going to present my research on Human Factors in Cybersecurity.</a:t>
            </a:r>
          </a:p>
          <a:p>
            <a:r>
              <a:rPr lang="en-IN" dirty="0"/>
              <a:t>The main idea of my research is that cybersecurity is not only about technology. Employees also play an important role because their actions and decisions can either increase or reduce security risks. In this presentation, I will explain the research problem, common types of attacks, the research methodology, my main findings.</a:t>
            </a:r>
          </a:p>
          <a:p>
            <a:endParaRPr lang="en-IN" dirty="0"/>
          </a:p>
        </p:txBody>
      </p:sp>
      <p:sp>
        <p:nvSpPr>
          <p:cNvPr id="4" name="Slide Number Placeholder 3"/>
          <p:cNvSpPr>
            <a:spLocks noGrp="1"/>
          </p:cNvSpPr>
          <p:nvPr>
            <p:ph type="sldNum" sz="quarter" idx="5"/>
          </p:nvPr>
        </p:nvSpPr>
        <p:spPr/>
        <p:txBody>
          <a:bodyPr/>
          <a:lstStyle/>
          <a:p>
            <a:fld id="{2EE28961-A0A2-476B-AD7D-A958D043DB72}" type="slidenum">
              <a:rPr lang="en-US" smtClean="0"/>
              <a:t>1</a:t>
            </a:fld>
            <a:endParaRPr lang="en-US"/>
          </a:p>
        </p:txBody>
      </p:sp>
    </p:spTree>
    <p:extLst>
      <p:ext uri="{BB962C8B-B14F-4D97-AF65-F5344CB8AC3E}">
        <p14:creationId xmlns:p14="http://schemas.microsoft.com/office/powerpoint/2010/main" val="3031679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First, I would like to explain the background of my research. Today, organisations depend heavily on information technology for their daily operations. At the same time, cyber threats against organisational systems and information are increasing.</a:t>
            </a:r>
          </a:p>
          <a:p>
            <a:r>
              <a:rPr lang="en-IN" dirty="0"/>
              <a:t>One important factor is human behaviour. Employees can sometimes make mistakes that create security risks. For example, an employee may click on a phishing link or share sensitive information. Therefore, technical security alone may not be enough. Employee awareness is also an important part of cybersecurity.”</a:t>
            </a:r>
          </a:p>
        </p:txBody>
      </p:sp>
      <p:sp>
        <p:nvSpPr>
          <p:cNvPr id="4" name="Slide Number Placeholder 3"/>
          <p:cNvSpPr>
            <a:spLocks noGrp="1"/>
          </p:cNvSpPr>
          <p:nvPr>
            <p:ph type="sldNum" sz="quarter" idx="5"/>
          </p:nvPr>
        </p:nvSpPr>
        <p:spPr/>
        <p:txBody>
          <a:bodyPr/>
          <a:lstStyle/>
          <a:p>
            <a:fld id="{2EE28961-A0A2-476B-AD7D-A958D043DB72}" type="slidenum">
              <a:rPr lang="en-US" smtClean="0"/>
              <a:t>2</a:t>
            </a:fld>
            <a:endParaRPr lang="en-US"/>
          </a:p>
        </p:txBody>
      </p:sp>
    </p:spTree>
    <p:extLst>
      <p:ext uri="{BB962C8B-B14F-4D97-AF65-F5344CB8AC3E}">
        <p14:creationId xmlns:p14="http://schemas.microsoft.com/office/powerpoint/2010/main" val="623040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main research problem is that organisations are investing a lot in cybersecurity technologies, but employee-related vulnerabilities still exist. Employees may accidentally click on malicious links, share confidential information, or use weak passwords.</a:t>
            </a:r>
          </a:p>
          <a:p>
            <a:r>
              <a:rPr lang="en-IN" dirty="0"/>
              <a:t>Another problem is that employees may not always follow security policies correctly. Because of this, even strong technical security controls can be weakened by human behaviour. So, my research focuses on understanding how employee awareness can help reduce these types of cybersecurity risks.”</a:t>
            </a:r>
          </a:p>
        </p:txBody>
      </p:sp>
      <p:sp>
        <p:nvSpPr>
          <p:cNvPr id="4" name="Slide Number Placeholder 3"/>
          <p:cNvSpPr>
            <a:spLocks noGrp="1"/>
          </p:cNvSpPr>
          <p:nvPr>
            <p:ph type="sldNum" sz="quarter" idx="5"/>
          </p:nvPr>
        </p:nvSpPr>
        <p:spPr/>
        <p:txBody>
          <a:bodyPr/>
          <a:lstStyle/>
          <a:p>
            <a:fld id="{2EE28961-A0A2-476B-AD7D-A958D043DB72}" type="slidenum">
              <a:rPr lang="en-US" smtClean="0"/>
              <a:t>3</a:t>
            </a:fld>
            <a:endParaRPr lang="en-US"/>
          </a:p>
        </p:txBody>
      </p:sp>
    </p:spTree>
    <p:extLst>
      <p:ext uri="{BB962C8B-B14F-4D97-AF65-F5344CB8AC3E}">
        <p14:creationId xmlns:p14="http://schemas.microsoft.com/office/powerpoint/2010/main" val="2681313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shows some common types of attacks that can target employees. Spear phishing is a personalised fake email, for example, an email that appears to come from a manager. Whaling is similar, but it specifically targets senior people such as a CEO.</a:t>
            </a:r>
          </a:p>
        </p:txBody>
      </p:sp>
      <p:sp>
        <p:nvSpPr>
          <p:cNvPr id="4" name="Slide Number Placeholder 3"/>
          <p:cNvSpPr>
            <a:spLocks noGrp="1"/>
          </p:cNvSpPr>
          <p:nvPr>
            <p:ph type="sldNum" sz="quarter" idx="5"/>
          </p:nvPr>
        </p:nvSpPr>
        <p:spPr/>
        <p:txBody>
          <a:bodyPr/>
          <a:lstStyle/>
          <a:p>
            <a:fld id="{2EE28961-A0A2-476B-AD7D-A958D043DB72}" type="slidenum">
              <a:rPr lang="en-US" smtClean="0"/>
              <a:t>4</a:t>
            </a:fld>
            <a:endParaRPr lang="en-US"/>
          </a:p>
        </p:txBody>
      </p:sp>
    </p:spTree>
    <p:extLst>
      <p:ext uri="{BB962C8B-B14F-4D97-AF65-F5344CB8AC3E}">
        <p14:creationId xmlns:p14="http://schemas.microsoft.com/office/powerpoint/2010/main" val="272332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Clone phishing uses a copied version of a real email but replaces the original link with a malicious one. </a:t>
            </a:r>
          </a:p>
          <a:p>
            <a:endParaRPr lang="en-IN" dirty="0"/>
          </a:p>
          <a:p>
            <a:r>
              <a:rPr lang="en-IN" dirty="0"/>
              <a:t>BEC, or Business Email Compromise, can involve a fake finance manager asking for a payment. </a:t>
            </a:r>
          </a:p>
        </p:txBody>
      </p:sp>
      <p:sp>
        <p:nvSpPr>
          <p:cNvPr id="4" name="Slide Number Placeholder 3"/>
          <p:cNvSpPr>
            <a:spLocks noGrp="1"/>
          </p:cNvSpPr>
          <p:nvPr>
            <p:ph type="sldNum" sz="quarter" idx="5"/>
          </p:nvPr>
        </p:nvSpPr>
        <p:spPr/>
        <p:txBody>
          <a:bodyPr/>
          <a:lstStyle/>
          <a:p>
            <a:fld id="{2EE28961-A0A2-476B-AD7D-A958D043DB72}" type="slidenum">
              <a:rPr lang="en-US" smtClean="0"/>
              <a:t>5</a:t>
            </a:fld>
            <a:endParaRPr lang="en-US"/>
          </a:p>
        </p:txBody>
      </p:sp>
    </p:spTree>
    <p:extLst>
      <p:ext uri="{BB962C8B-B14F-4D97-AF65-F5344CB8AC3E}">
        <p14:creationId xmlns:p14="http://schemas.microsoft.com/office/powerpoint/2010/main" val="2112416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Other examples include snowshoeing, which uses many domains, and vishing, where attackers use phone calls to collect confidential information.”</a:t>
            </a:r>
          </a:p>
          <a:p>
            <a:endParaRPr lang="en-IN" dirty="0"/>
          </a:p>
        </p:txBody>
      </p:sp>
      <p:sp>
        <p:nvSpPr>
          <p:cNvPr id="4" name="Slide Number Placeholder 3"/>
          <p:cNvSpPr>
            <a:spLocks noGrp="1"/>
          </p:cNvSpPr>
          <p:nvPr>
            <p:ph type="sldNum" sz="quarter" idx="5"/>
          </p:nvPr>
        </p:nvSpPr>
        <p:spPr/>
        <p:txBody>
          <a:bodyPr/>
          <a:lstStyle/>
          <a:p>
            <a:fld id="{2EE28961-A0A2-476B-AD7D-A958D043DB72}" type="slidenum">
              <a:rPr lang="en-US" smtClean="0"/>
              <a:t>6</a:t>
            </a:fld>
            <a:endParaRPr lang="en-US"/>
          </a:p>
        </p:txBody>
      </p:sp>
    </p:spTree>
    <p:extLst>
      <p:ext uri="{BB962C8B-B14F-4D97-AF65-F5344CB8AC3E}">
        <p14:creationId xmlns:p14="http://schemas.microsoft.com/office/powerpoint/2010/main" val="3878919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main aim of my research is to explore the importance of employee awareness in reducing cyber threats.</a:t>
            </a:r>
          </a:p>
          <a:p>
            <a:r>
              <a:rPr lang="en-IN" dirty="0"/>
              <a:t>I have four main objectives. First, I want to understand the relationship between employee awareness and organisational cybersecurity. </a:t>
            </a:r>
          </a:p>
          <a:p>
            <a:r>
              <a:rPr lang="en-IN" dirty="0"/>
              <a:t>Second, I want to identify common human factors that contribute to cyber risks. </a:t>
            </a:r>
          </a:p>
          <a:p>
            <a:r>
              <a:rPr lang="en-IN" dirty="0"/>
              <a:t>Third, I want to examine the effectiveness of cybersecurity awareness programmes. </a:t>
            </a:r>
          </a:p>
          <a:p>
            <a:r>
              <a:rPr lang="en-IN" dirty="0"/>
              <a:t>Finally, I want to provide recommendations that organisations can use to improve employee awareness and security behaviour.”</a:t>
            </a:r>
          </a:p>
        </p:txBody>
      </p:sp>
      <p:sp>
        <p:nvSpPr>
          <p:cNvPr id="4" name="Slide Number Placeholder 3"/>
          <p:cNvSpPr>
            <a:spLocks noGrp="1"/>
          </p:cNvSpPr>
          <p:nvPr>
            <p:ph type="sldNum" sz="quarter" idx="5"/>
          </p:nvPr>
        </p:nvSpPr>
        <p:spPr/>
        <p:txBody>
          <a:bodyPr/>
          <a:lstStyle/>
          <a:p>
            <a:fld id="{2EE28961-A0A2-476B-AD7D-A958D043DB72}" type="slidenum">
              <a:rPr lang="en-US" smtClean="0"/>
              <a:t>7</a:t>
            </a:fld>
            <a:endParaRPr lang="en-US"/>
          </a:p>
        </p:txBody>
      </p:sp>
    </p:spTree>
    <p:extLst>
      <p:ext uri="{BB962C8B-B14F-4D97-AF65-F5344CB8AC3E}">
        <p14:creationId xmlns:p14="http://schemas.microsoft.com/office/powerpoint/2010/main" val="2090255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 the literature and theoretical framework, my research looks at cybersecurity as both a technical and a human issue. </a:t>
            </a:r>
          </a:p>
          <a:p>
            <a:r>
              <a:rPr lang="en-IN" dirty="0"/>
              <a:t>I focus on two theories: Protection Motivation Theory and the Theory of Planned Behaviour.</a:t>
            </a:r>
          </a:p>
          <a:p>
            <a:r>
              <a:rPr lang="en-IN" dirty="0"/>
              <a:t>Protection Motivation Theory helps explain how people respond when they perceive a security threat and how this can influence their protective actions. </a:t>
            </a:r>
          </a:p>
          <a:p>
            <a:r>
              <a:rPr lang="en-IN" dirty="0"/>
              <a:t>The Theory of Planned Behaviour focuses on factors such as attitudes, social influence, and control. </a:t>
            </a:r>
          </a:p>
          <a:p>
            <a:r>
              <a:rPr lang="en-IN" dirty="0"/>
              <a:t>These theories help me understand why employees behave differently when dealing with cybersecurity.</a:t>
            </a:r>
          </a:p>
        </p:txBody>
      </p:sp>
      <p:sp>
        <p:nvSpPr>
          <p:cNvPr id="4" name="Slide Number Placeholder 3"/>
          <p:cNvSpPr>
            <a:spLocks noGrp="1"/>
          </p:cNvSpPr>
          <p:nvPr>
            <p:ph type="sldNum" sz="quarter" idx="5"/>
          </p:nvPr>
        </p:nvSpPr>
        <p:spPr/>
        <p:txBody>
          <a:bodyPr/>
          <a:lstStyle/>
          <a:p>
            <a:fld id="{2EE28961-A0A2-476B-AD7D-A958D043DB72}" type="slidenum">
              <a:rPr lang="en-US" smtClean="0"/>
              <a:t>8</a:t>
            </a:fld>
            <a:endParaRPr lang="en-US"/>
          </a:p>
        </p:txBody>
      </p:sp>
    </p:spTree>
    <p:extLst>
      <p:ext uri="{BB962C8B-B14F-4D97-AF65-F5344CB8AC3E}">
        <p14:creationId xmlns:p14="http://schemas.microsoft.com/office/powerpoint/2010/main" val="35004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 my research methodology, my research focuses on understanding employee behaviour and awareness. </a:t>
            </a:r>
          </a:p>
          <a:p>
            <a:r>
              <a:rPr lang="en-IN" dirty="0"/>
              <a:t>I also use an inductive approach, which means I identify themes and patterns from the existing evidence instead of starting with fixed conclusions.</a:t>
            </a:r>
          </a:p>
          <a:p>
            <a:endParaRPr lang="en-IN" dirty="0"/>
          </a:p>
          <a:p>
            <a:r>
              <a:rPr lang="en-IN" dirty="0"/>
              <a:t>My research is based on secondary qualitative data. </a:t>
            </a:r>
          </a:p>
          <a:p>
            <a:r>
              <a:rPr lang="en-IN" dirty="0"/>
              <a:t>it includes academic journal articles, conference papers, industry reports, and government publications.</a:t>
            </a:r>
          </a:p>
          <a:p>
            <a:r>
              <a:rPr lang="en-IN" dirty="0"/>
              <a:t>Then </a:t>
            </a:r>
            <a:r>
              <a:rPr lang="en-IN" dirty="0" err="1"/>
              <a:t>i</a:t>
            </a:r>
            <a:r>
              <a:rPr lang="en-IN" dirty="0"/>
              <a:t> use thematic analysis to identify common patterns and findings across the sources.</a:t>
            </a:r>
          </a:p>
        </p:txBody>
      </p:sp>
      <p:sp>
        <p:nvSpPr>
          <p:cNvPr id="4" name="Slide Number Placeholder 3"/>
          <p:cNvSpPr>
            <a:spLocks noGrp="1"/>
          </p:cNvSpPr>
          <p:nvPr>
            <p:ph type="sldNum" sz="quarter" idx="5"/>
          </p:nvPr>
        </p:nvSpPr>
        <p:spPr/>
        <p:txBody>
          <a:bodyPr/>
          <a:lstStyle/>
          <a:p>
            <a:fld id="{2EE28961-A0A2-476B-AD7D-A958D043DB72}" type="slidenum">
              <a:rPr lang="en-US" smtClean="0"/>
              <a:t>9</a:t>
            </a:fld>
            <a:endParaRPr lang="en-US"/>
          </a:p>
        </p:txBody>
      </p:sp>
    </p:spTree>
    <p:extLst>
      <p:ext uri="{BB962C8B-B14F-4D97-AF65-F5344CB8AC3E}">
        <p14:creationId xmlns:p14="http://schemas.microsoft.com/office/powerpoint/2010/main" val="2704347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first main finding is human error. Human behaviour can be an important cybersecurity vulnerability in organisations. Employees may make mistakes such as clicking on suspicious links, using weak passwords, or responding to scams.</a:t>
            </a:r>
          </a:p>
          <a:p>
            <a:r>
              <a:rPr lang="en-IN" dirty="0"/>
              <a:t>Phishing attacks are especially important because they try to influence an employee's judgement and decision-making. </a:t>
            </a:r>
          </a:p>
          <a:p>
            <a:r>
              <a:rPr lang="en-IN" dirty="0"/>
              <a:t>Social engineering also uses communication and manipulation to trick employees. Therefore, this finding shows why employee awareness is important alongside technical cybersecurity controls.”</a:t>
            </a:r>
          </a:p>
        </p:txBody>
      </p:sp>
      <p:sp>
        <p:nvSpPr>
          <p:cNvPr id="4" name="Slide Number Placeholder 3"/>
          <p:cNvSpPr>
            <a:spLocks noGrp="1"/>
          </p:cNvSpPr>
          <p:nvPr>
            <p:ph type="sldNum" sz="quarter" idx="5"/>
          </p:nvPr>
        </p:nvSpPr>
        <p:spPr/>
        <p:txBody>
          <a:bodyPr/>
          <a:lstStyle/>
          <a:p>
            <a:fld id="{2EE28961-A0A2-476B-AD7D-A958D043DB72}" type="slidenum">
              <a:rPr lang="en-US" smtClean="0"/>
              <a:t>10</a:t>
            </a:fld>
            <a:endParaRPr lang="en-US"/>
          </a:p>
        </p:txBody>
      </p:sp>
    </p:spTree>
    <p:extLst>
      <p:ext uri="{BB962C8B-B14F-4D97-AF65-F5344CB8AC3E}">
        <p14:creationId xmlns:p14="http://schemas.microsoft.com/office/powerpoint/2010/main" val="1820879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second finding is about cybersecurity awareness programmes. These programmes can help employees understand common cyber threats and learn the correct security behaviours.</a:t>
            </a:r>
          </a:p>
          <a:p>
            <a:r>
              <a:rPr lang="en-IN" dirty="0"/>
              <a:t>However, awareness should not only be based on one training session. Continuous learning and regular reinforcement can help employees remember what they have learned and apply it in their daily work. Employee participation is also important because awareness programmes are more useful when employees actively engage with them.”</a:t>
            </a:r>
          </a:p>
        </p:txBody>
      </p:sp>
      <p:sp>
        <p:nvSpPr>
          <p:cNvPr id="4" name="Slide Number Placeholder 3"/>
          <p:cNvSpPr>
            <a:spLocks noGrp="1"/>
          </p:cNvSpPr>
          <p:nvPr>
            <p:ph type="sldNum" sz="quarter" idx="5"/>
          </p:nvPr>
        </p:nvSpPr>
        <p:spPr/>
        <p:txBody>
          <a:bodyPr/>
          <a:lstStyle/>
          <a:p>
            <a:fld id="{2EE28961-A0A2-476B-AD7D-A958D043DB72}" type="slidenum">
              <a:rPr lang="en-US" smtClean="0"/>
              <a:t>11</a:t>
            </a:fld>
            <a:endParaRPr lang="en-US"/>
          </a:p>
        </p:txBody>
      </p:sp>
    </p:spTree>
    <p:extLst>
      <p:ext uri="{BB962C8B-B14F-4D97-AF65-F5344CB8AC3E}">
        <p14:creationId xmlns:p14="http://schemas.microsoft.com/office/powerpoint/2010/main" val="4262386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third finding focuses on organisational security culture. Cybersecurity should not be considered only the responsibility of the IT or security department. Employees across the organisation also handle information and systems, so everyone has a role to play.</a:t>
            </a:r>
          </a:p>
          <a:p>
            <a:r>
              <a:rPr lang="en-IN" dirty="0"/>
              <a:t>Management can support this by promoting security awareness and encouraging employees to take responsibility. When security becomes part of the organisation's everyday culture, employees can become more involved in protecting organisational information</a:t>
            </a:r>
          </a:p>
        </p:txBody>
      </p:sp>
      <p:sp>
        <p:nvSpPr>
          <p:cNvPr id="4" name="Slide Number Placeholder 3"/>
          <p:cNvSpPr>
            <a:spLocks noGrp="1"/>
          </p:cNvSpPr>
          <p:nvPr>
            <p:ph type="sldNum" sz="quarter" idx="5"/>
          </p:nvPr>
        </p:nvSpPr>
        <p:spPr/>
        <p:txBody>
          <a:bodyPr/>
          <a:lstStyle/>
          <a:p>
            <a:fld id="{2EE28961-A0A2-476B-AD7D-A958D043DB72}" type="slidenum">
              <a:rPr lang="en-US" smtClean="0"/>
              <a:t>12</a:t>
            </a:fld>
            <a:endParaRPr lang="en-US"/>
          </a:p>
        </p:txBody>
      </p:sp>
    </p:spTree>
    <p:extLst>
      <p:ext uri="{BB962C8B-B14F-4D97-AF65-F5344CB8AC3E}">
        <p14:creationId xmlns:p14="http://schemas.microsoft.com/office/powerpoint/2010/main" val="2138134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Based on my findings, technical cybersecurity controls should be supported by employee awareness. Organisations should provide training that focuses on realistic risks that employees may actually face, such as phishing and social engineering.</a:t>
            </a:r>
          </a:p>
          <a:p>
            <a:r>
              <a:rPr lang="en-IN" dirty="0"/>
              <a:t>Security policies should also be communicated regularly instead of being shared only once. Management has an important role in creating accountability and encouraging collective responsibility. So, the main recommendation is to combine technical controls with continuous employee awareness.”</a:t>
            </a:r>
          </a:p>
        </p:txBody>
      </p:sp>
      <p:sp>
        <p:nvSpPr>
          <p:cNvPr id="4" name="Slide Number Placeholder 3"/>
          <p:cNvSpPr>
            <a:spLocks noGrp="1"/>
          </p:cNvSpPr>
          <p:nvPr>
            <p:ph type="sldNum" sz="quarter" idx="5"/>
          </p:nvPr>
        </p:nvSpPr>
        <p:spPr/>
        <p:txBody>
          <a:bodyPr/>
          <a:lstStyle/>
          <a:p>
            <a:fld id="{2EE28961-A0A2-476B-AD7D-A958D043DB72}" type="slidenum">
              <a:rPr lang="en-US" smtClean="0"/>
              <a:t>13</a:t>
            </a:fld>
            <a:endParaRPr lang="en-US"/>
          </a:p>
        </p:txBody>
      </p:sp>
    </p:spTree>
    <p:extLst>
      <p:ext uri="{BB962C8B-B14F-4D97-AF65-F5344CB8AC3E}">
        <p14:creationId xmlns:p14="http://schemas.microsoft.com/office/powerpoint/2010/main" val="102305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conclude, my research shows that employee awareness is an important part of organisational cybersecurity. Human behaviour can influence how exposed an organisation is to cyber threats.</a:t>
            </a:r>
          </a:p>
          <a:p>
            <a:r>
              <a:rPr lang="en-IN" dirty="0"/>
              <a:t>Therefore, organisations should not focus only on technical security. They should also provide continuous support and awareness for employees. For future research, it would be useful to study the long-term effectiveness of awareness programmes and how organisations can maintain safe employee behaviour over time.”</a:t>
            </a:r>
          </a:p>
        </p:txBody>
      </p:sp>
      <p:sp>
        <p:nvSpPr>
          <p:cNvPr id="4" name="Slide Number Placeholder 3"/>
          <p:cNvSpPr>
            <a:spLocks noGrp="1"/>
          </p:cNvSpPr>
          <p:nvPr>
            <p:ph type="sldNum" sz="quarter" idx="5"/>
          </p:nvPr>
        </p:nvSpPr>
        <p:spPr/>
        <p:txBody>
          <a:bodyPr/>
          <a:lstStyle/>
          <a:p>
            <a:fld id="{2EE28961-A0A2-476B-AD7D-A958D043DB72}" type="slidenum">
              <a:rPr lang="en-US" smtClean="0"/>
              <a:t>14</a:t>
            </a:fld>
            <a:endParaRPr lang="en-US"/>
          </a:p>
        </p:txBody>
      </p:sp>
    </p:spTree>
    <p:extLst>
      <p:ext uri="{BB962C8B-B14F-4D97-AF65-F5344CB8AC3E}">
        <p14:creationId xmlns:p14="http://schemas.microsoft.com/office/powerpoint/2010/main" val="2704118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shows the main academic sources that I used for my research. These sources include research on human factors, cybersecurity awareness, employee behaviour, and awareness programmes.</a:t>
            </a:r>
          </a:p>
        </p:txBody>
      </p:sp>
      <p:sp>
        <p:nvSpPr>
          <p:cNvPr id="4" name="Slide Number Placeholder 3"/>
          <p:cNvSpPr>
            <a:spLocks noGrp="1"/>
          </p:cNvSpPr>
          <p:nvPr>
            <p:ph type="sldNum" sz="quarter" idx="5"/>
          </p:nvPr>
        </p:nvSpPr>
        <p:spPr/>
        <p:txBody>
          <a:bodyPr/>
          <a:lstStyle/>
          <a:p>
            <a:fld id="{2EE28961-A0A2-476B-AD7D-A958D043DB72}" type="slidenum">
              <a:rPr lang="en-US" smtClean="0"/>
              <a:t>15</a:t>
            </a:fld>
            <a:endParaRPr lang="en-US"/>
          </a:p>
        </p:txBody>
      </p:sp>
    </p:spTree>
    <p:extLst>
      <p:ext uri="{BB962C8B-B14F-4D97-AF65-F5344CB8AC3E}">
        <p14:creationId xmlns:p14="http://schemas.microsoft.com/office/powerpoint/2010/main" val="2871613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Thank you very much for listening to my presentation.</a:t>
            </a:r>
          </a:p>
        </p:txBody>
      </p:sp>
      <p:sp>
        <p:nvSpPr>
          <p:cNvPr id="4" name="Slide Number Placeholder 3"/>
          <p:cNvSpPr>
            <a:spLocks noGrp="1"/>
          </p:cNvSpPr>
          <p:nvPr>
            <p:ph type="sldNum" sz="quarter" idx="5"/>
          </p:nvPr>
        </p:nvSpPr>
        <p:spPr/>
        <p:txBody>
          <a:bodyPr/>
          <a:lstStyle/>
          <a:p>
            <a:fld id="{2EE28961-A0A2-476B-AD7D-A958D043DB72}" type="slidenum">
              <a:rPr lang="en-US" smtClean="0"/>
              <a:t>16</a:t>
            </a:fld>
            <a:endParaRPr lang="en-US"/>
          </a:p>
        </p:txBody>
      </p:sp>
    </p:spTree>
    <p:extLst>
      <p:ext uri="{BB962C8B-B14F-4D97-AF65-F5344CB8AC3E}">
        <p14:creationId xmlns:p14="http://schemas.microsoft.com/office/powerpoint/2010/main" val="383549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764A2C-099B-47DA-B52F-0AC054E87E38}"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2134237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64A2C-099B-47DA-B52F-0AC054E87E38}"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1539300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764A2C-099B-47DA-B52F-0AC054E87E38}"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4115231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764A2C-099B-47DA-B52F-0AC054E87E38}"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665056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764A2C-099B-47DA-B52F-0AC054E87E38}"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1351037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764A2C-099B-47DA-B52F-0AC054E87E38}"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134955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764A2C-099B-47DA-B52F-0AC054E87E38}"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3231635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764A2C-099B-47DA-B52F-0AC054E87E38}"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569612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D8764A2C-099B-47DA-B52F-0AC054E87E38}" type="datetimeFigureOut">
              <a:rPr lang="en-US" smtClean="0"/>
              <a:t>9/20/2026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2387176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764A2C-099B-47DA-B52F-0AC054E87E38}"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4113970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D8764A2C-099B-47DA-B52F-0AC054E87E38}"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14170143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D8764A2C-099B-47DA-B52F-0AC054E87E38}"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903752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64A2C-099B-47DA-B52F-0AC054E87E38}"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41017479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64A2C-099B-47DA-B52F-0AC054E87E38}"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1031577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CF3F0-C32E-5818-2EB2-270AA46AF14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1FE1C6C0-7FB0-E8D2-EDA4-84465E51E578}"/>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8C8C5E-F9DC-740E-CBA1-3A1D8DA2FCD0}"/>
              </a:ext>
            </a:extLst>
          </p:cNvPr>
          <p:cNvSpPr>
            <a:spLocks noGrp="1"/>
          </p:cNvSpPr>
          <p:nvPr>
            <p:ph type="dt" sz="half" idx="10"/>
          </p:nvPr>
        </p:nvSpPr>
        <p:spPr/>
        <p:txBody>
          <a:bodyPr/>
          <a:lstStyle/>
          <a:p>
            <a:fld id="{D8764A2C-099B-47DA-B52F-0AC054E87E38}" type="datetimeFigureOut">
              <a:rPr lang="en-US" smtClean="0"/>
              <a:t>9/20/2026</a:t>
            </a:fld>
            <a:endParaRPr lang="en-US"/>
          </a:p>
        </p:txBody>
      </p:sp>
      <p:sp>
        <p:nvSpPr>
          <p:cNvPr id="5" name="Footer Placeholder 4">
            <a:extLst>
              <a:ext uri="{FF2B5EF4-FFF2-40B4-BE49-F238E27FC236}">
                <a16:creationId xmlns:a16="http://schemas.microsoft.com/office/drawing/2014/main" id="{1922AE28-4D64-B085-04EF-CBF37071FD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65B0D0-88A3-0C98-461C-670B3F79FAD6}"/>
              </a:ext>
            </a:extLst>
          </p:cNvPr>
          <p:cNvSpPr>
            <a:spLocks noGrp="1"/>
          </p:cNvSpPr>
          <p:nvPr>
            <p:ph type="sldNum" sz="quarter" idx="12"/>
          </p:nvPr>
        </p:nvSpPr>
        <p:spPr/>
        <p:txBody>
          <a:bodyPr/>
          <a:lstStyle/>
          <a:p>
            <a:fld id="{CCE42FBD-9559-4712-90D2-E4A553111B71}" type="slidenum">
              <a:rPr lang="en-US" smtClean="0"/>
              <a:t>‹#›</a:t>
            </a:fld>
            <a:endParaRPr lang="en-US"/>
          </a:p>
        </p:txBody>
      </p:sp>
    </p:spTree>
    <p:extLst>
      <p:ext uri="{BB962C8B-B14F-4D97-AF65-F5344CB8AC3E}">
        <p14:creationId xmlns:p14="http://schemas.microsoft.com/office/powerpoint/2010/main" val="232477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D8764A2C-099B-47DA-B52F-0AC054E87E38}" type="datetimeFigureOut">
              <a:rPr lang="en-US" smtClean="0"/>
              <a:t>9/20/2026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CCE42FBD-9559-4712-90D2-E4A553111B71}" type="slidenum">
              <a:rPr lang="en-US" smtClean="0"/>
              <a:t>‹#›</a:t>
            </a:fld>
            <a:endParaRPr lang="en-US"/>
          </a:p>
        </p:txBody>
      </p:sp>
    </p:spTree>
    <p:extLst>
      <p:ext uri="{BB962C8B-B14F-4D97-AF65-F5344CB8AC3E}">
        <p14:creationId xmlns:p14="http://schemas.microsoft.com/office/powerpoint/2010/main" val="225618401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hemeOverride" Target="../theme/themeOverride1.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B7743172-17A8-4FA4-8434-B813E03B7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4CE1233C-FD2F-489E-BFDE-086F5FED6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F30E580-ED5A-1F33-D7E2-8ED39A294265}"/>
              </a:ext>
            </a:extLst>
          </p:cNvPr>
          <p:cNvSpPr>
            <a:spLocks noGrp="1"/>
          </p:cNvSpPr>
          <p:nvPr>
            <p:ph type="title"/>
          </p:nvPr>
        </p:nvSpPr>
        <p:spPr>
          <a:xfrm>
            <a:off x="451514" y="1800225"/>
            <a:ext cx="3444211" cy="4241136"/>
          </a:xfrm>
        </p:spPr>
        <p:txBody>
          <a:bodyPr vert="horz" lIns="91440" tIns="45720" rIns="91440" bIns="45720" rtlCol="0" anchor="t">
            <a:normAutofit/>
          </a:bodyPr>
          <a:lstStyle/>
          <a:p>
            <a:pPr marR="0">
              <a:lnSpc>
                <a:spcPct val="90000"/>
              </a:lnSpc>
            </a:pPr>
            <a:r>
              <a:rPr lang="en-US" sz="3100" i="0" u="none" strike="noStrike" baseline="0"/>
              <a:t>HUMAN FACTORS IN CYBERSECURITY: THE ROLE OF EMPLOYEE AWARENESS IN REDUCING CYBER THREATS</a:t>
            </a:r>
          </a:p>
        </p:txBody>
      </p:sp>
      <p:pic>
        <p:nvPicPr>
          <p:cNvPr id="6" name="Graphic 5" descr="Security Camera Sign">
            <a:extLst>
              <a:ext uri="{FF2B5EF4-FFF2-40B4-BE49-F238E27FC236}">
                <a16:creationId xmlns:a16="http://schemas.microsoft.com/office/drawing/2014/main" id="{F9C4C489-2CFC-96B1-AC8F-BFC00582CA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554" y="643465"/>
            <a:ext cx="5397897" cy="5397897"/>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156781055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25D3303-64C6-02DC-5DD5-418CE1054B85}"/>
              </a:ext>
            </a:extLst>
          </p:cNvPr>
          <p:cNvSpPr>
            <a:spLocks noGrp="1"/>
          </p:cNvSpPr>
          <p:nvPr>
            <p:ph type="title"/>
          </p:nvPr>
        </p:nvSpPr>
        <p:spPr>
          <a:xfrm>
            <a:off x="810000" y="447188"/>
            <a:ext cx="10571998" cy="970450"/>
          </a:xfrm>
        </p:spPr>
        <p:txBody>
          <a:bodyPr vert="horz" lIns="91440" tIns="45720" rIns="91440" bIns="45720" rtlCol="0" anchor="b">
            <a:normAutofit/>
          </a:bodyPr>
          <a:lstStyle/>
          <a:p>
            <a:pPr marR="0"/>
            <a:r>
              <a:rPr lang="en-US" i="0" u="none" strike="noStrike" baseline="0"/>
              <a:t>Background and Context</a:t>
            </a:r>
          </a:p>
        </p:txBody>
      </p:sp>
      <p:sp>
        <p:nvSpPr>
          <p:cNvPr id="3" name="Text Placeholder 2">
            <a:extLst>
              <a:ext uri="{FF2B5EF4-FFF2-40B4-BE49-F238E27FC236}">
                <a16:creationId xmlns:a16="http://schemas.microsoft.com/office/drawing/2014/main" id="{99E7D054-F562-DC9F-1CDA-F86D974F6E0E}"/>
              </a:ext>
            </a:extLst>
          </p:cNvPr>
          <p:cNvSpPr>
            <a:spLocks noGrp="1"/>
          </p:cNvSpPr>
          <p:nvPr>
            <p:ph type="body" idx="1"/>
          </p:nvPr>
        </p:nvSpPr>
        <p:spPr>
          <a:xfrm>
            <a:off x="818713" y="2413000"/>
            <a:ext cx="3835583" cy="3632200"/>
          </a:xfrm>
        </p:spPr>
        <p:txBody>
          <a:bodyPr vert="horz" lIns="91440" tIns="45720" rIns="91440" bIns="45720" rtlCol="0" anchor="ctr">
            <a:normAutofit/>
          </a:bodyPr>
          <a:lstStyle/>
          <a:p>
            <a:pPr marR="0" lvl="0">
              <a:lnSpc>
                <a:spcPct val="90000"/>
              </a:lnSpc>
            </a:pPr>
            <a:r>
              <a:rPr lang="en-US" sz="1600" b="0" i="0" u="none" strike="noStrike" baseline="0" dirty="0"/>
              <a:t>The </a:t>
            </a:r>
            <a:r>
              <a:rPr lang="en-US" sz="1600" b="0" i="0" u="none" strike="noStrike" baseline="0" dirty="0" err="1"/>
              <a:t>organisations</a:t>
            </a:r>
            <a:r>
              <a:rPr lang="en-US" sz="1600" b="0" i="0" u="none" strike="noStrike" baseline="0" dirty="0"/>
              <a:t> are also increasingly depending on information technology in their daily operations. </a:t>
            </a:r>
          </a:p>
          <a:p>
            <a:pPr marR="0" lvl="0">
              <a:lnSpc>
                <a:spcPct val="90000"/>
              </a:lnSpc>
            </a:pPr>
            <a:r>
              <a:rPr lang="en-US" sz="1600" b="0" i="0" u="none" strike="noStrike" baseline="0" dirty="0"/>
              <a:t>The number of cyber threats to </a:t>
            </a:r>
            <a:r>
              <a:rPr lang="en-US" sz="1600" b="0" i="0" u="none" strike="noStrike" baseline="0" dirty="0" err="1"/>
              <a:t>organisational</a:t>
            </a:r>
            <a:r>
              <a:rPr lang="en-US" sz="1600" b="0" i="0" u="none" strike="noStrike" baseline="0" dirty="0"/>
              <a:t> systems and valuable information is increasing. </a:t>
            </a:r>
          </a:p>
          <a:p>
            <a:pPr marR="0" lvl="0">
              <a:lnSpc>
                <a:spcPct val="90000"/>
              </a:lnSpc>
            </a:pPr>
            <a:r>
              <a:rPr lang="en-US" sz="1600" b="0" i="0" u="none" strike="noStrike" baseline="0" dirty="0"/>
              <a:t>Human </a:t>
            </a:r>
            <a:r>
              <a:rPr lang="en-US" sz="1600" b="0" i="0" u="none" strike="noStrike" baseline="0" dirty="0" err="1"/>
              <a:t>behaviour</a:t>
            </a:r>
            <a:r>
              <a:rPr lang="en-US" sz="1600" b="0" i="0" u="none" strike="noStrike" baseline="0" dirty="0"/>
              <a:t> is also a vulnerability of cybersecurity (Khadka and Ullah, 2025). </a:t>
            </a:r>
          </a:p>
          <a:p>
            <a:pPr marR="0" lvl="0">
              <a:lnSpc>
                <a:spcPct val="90000"/>
              </a:lnSpc>
            </a:pPr>
            <a:r>
              <a:rPr lang="en-US" sz="1600" b="0" i="0" u="none" strike="noStrike" baseline="0" dirty="0" err="1"/>
              <a:t>Organisational</a:t>
            </a:r>
            <a:r>
              <a:rPr lang="en-US" sz="1600" b="0" i="0" u="none" strike="noStrike" baseline="0" dirty="0"/>
              <a:t> security may be threatened by serious employee errors. </a:t>
            </a:r>
          </a:p>
        </p:txBody>
      </p:sp>
      <p:pic>
        <p:nvPicPr>
          <p:cNvPr id="4" name="Picture 3" descr="Human Factors | Human Reliability">
            <a:extLst>
              <a:ext uri="{FF2B5EF4-FFF2-40B4-BE49-F238E27FC236}">
                <a16:creationId xmlns:a16="http://schemas.microsoft.com/office/drawing/2014/main" id="{484C1943-0193-39DA-4A68-2E4AF0E07C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6382356" y="2413000"/>
            <a:ext cx="3716338"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2200900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C1B9439-A31D-DD7B-548A-48B8BDBB9BF9}"/>
              </a:ext>
            </a:extLst>
          </p:cNvPr>
          <p:cNvSpPr>
            <a:spLocks noGrp="1"/>
          </p:cNvSpPr>
          <p:nvPr>
            <p:ph type="title"/>
          </p:nvPr>
        </p:nvSpPr>
        <p:spPr>
          <a:xfrm>
            <a:off x="810000" y="447188"/>
            <a:ext cx="10571998" cy="970450"/>
          </a:xfrm>
        </p:spPr>
        <p:txBody>
          <a:bodyPr vert="horz" lIns="91440" tIns="45720" rIns="91440" bIns="45720" rtlCol="0" anchor="b">
            <a:normAutofit/>
          </a:bodyPr>
          <a:lstStyle/>
          <a:p>
            <a:pPr marR="0"/>
            <a:r>
              <a:rPr lang="en-US" i="0" u="none" strike="noStrike" baseline="0" dirty="0"/>
              <a:t>Research Problem</a:t>
            </a:r>
          </a:p>
        </p:txBody>
      </p:sp>
      <p:sp>
        <p:nvSpPr>
          <p:cNvPr id="3" name="Text Placeholder 2">
            <a:extLst>
              <a:ext uri="{FF2B5EF4-FFF2-40B4-BE49-F238E27FC236}">
                <a16:creationId xmlns:a16="http://schemas.microsoft.com/office/drawing/2014/main" id="{4F6F23F8-011A-9B5A-77AB-996B5A56D27A}"/>
              </a:ext>
            </a:extLst>
          </p:cNvPr>
          <p:cNvSpPr>
            <a:spLocks noGrp="1"/>
          </p:cNvSpPr>
          <p:nvPr>
            <p:ph type="body" idx="1"/>
          </p:nvPr>
        </p:nvSpPr>
        <p:spPr>
          <a:xfrm>
            <a:off x="818713" y="2413000"/>
            <a:ext cx="3835583" cy="3632200"/>
          </a:xfrm>
        </p:spPr>
        <p:txBody>
          <a:bodyPr vert="horz" lIns="91440" tIns="45720" rIns="91440" bIns="45720" rtlCol="0" anchor="ctr">
            <a:normAutofit/>
          </a:bodyPr>
          <a:lstStyle/>
          <a:p>
            <a:pPr marR="0" lvl="0">
              <a:lnSpc>
                <a:spcPct val="90000"/>
              </a:lnSpc>
            </a:pPr>
            <a:r>
              <a:rPr lang="en-US" sz="1600" b="0" i="0" u="none" strike="noStrike" baseline="0"/>
              <a:t>Technical cybersecurity investments are unable to solve employee-related security vulnerabilities (Shah et al., 2023). </a:t>
            </a:r>
          </a:p>
          <a:p>
            <a:pPr marR="0" lvl="0">
              <a:lnSpc>
                <a:spcPct val="90000"/>
              </a:lnSpc>
            </a:pPr>
            <a:r>
              <a:rPr lang="en-US" sz="1600" b="0" i="0" u="none" strike="noStrike" baseline="0"/>
              <a:t>Employees are also able to press on malicious links or provide confidential information. </a:t>
            </a:r>
          </a:p>
          <a:p>
            <a:pPr marR="0" lvl="0">
              <a:lnSpc>
                <a:spcPct val="90000"/>
              </a:lnSpc>
            </a:pPr>
            <a:r>
              <a:rPr lang="en-US" sz="1600" b="0" i="0" u="none" strike="noStrike" baseline="0"/>
              <a:t>Weak passwords can as well expose us to organisational cyber threats. </a:t>
            </a:r>
          </a:p>
          <a:p>
            <a:pPr marR="0" lvl="0">
              <a:lnSpc>
                <a:spcPct val="90000"/>
              </a:lnSpc>
            </a:pPr>
            <a:r>
              <a:rPr lang="en-US" sz="1600" b="0" i="0" u="none" strike="noStrike" baseline="0"/>
              <a:t>The developed cybersecurity protection may be undermined by the policy noncompliance. </a:t>
            </a:r>
          </a:p>
        </p:txBody>
      </p:sp>
      <p:pic>
        <p:nvPicPr>
          <p:cNvPr id="4" name="Picture 3" descr="What is Phishing? Types, Risks, and Protection Strategies">
            <a:extLst>
              <a:ext uri="{FF2B5EF4-FFF2-40B4-BE49-F238E27FC236}">
                <a16:creationId xmlns:a16="http://schemas.microsoft.com/office/drawing/2014/main" id="{B872AB06-35DF-C482-D0A0-423ECB19D4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5143577" y="2413000"/>
            <a:ext cx="6193896"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751655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6BF66-833B-5383-7E62-DC4AFA6527CC}"/>
              </a:ext>
            </a:extLst>
          </p:cNvPr>
          <p:cNvSpPr>
            <a:spLocks noGrp="1"/>
          </p:cNvSpPr>
          <p:nvPr>
            <p:ph type="title"/>
          </p:nvPr>
        </p:nvSpPr>
        <p:spPr/>
        <p:txBody>
          <a:bodyPr/>
          <a:lstStyle/>
          <a:p>
            <a:r>
              <a:rPr lang="en-IN" u="sng" dirty="0"/>
              <a:t>Types of Attacks</a:t>
            </a:r>
          </a:p>
        </p:txBody>
      </p:sp>
      <p:pic>
        <p:nvPicPr>
          <p:cNvPr id="9" name="Picture 8">
            <a:extLst>
              <a:ext uri="{FF2B5EF4-FFF2-40B4-BE49-F238E27FC236}">
                <a16:creationId xmlns:a16="http://schemas.microsoft.com/office/drawing/2014/main" id="{611BE706-5953-EE35-5CBB-2B551B15D1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898" y="1613633"/>
            <a:ext cx="5182902" cy="4012603"/>
          </a:xfrm>
          <a:prstGeom prst="rect">
            <a:avLst/>
          </a:prstGeom>
        </p:spPr>
      </p:pic>
      <p:pic>
        <p:nvPicPr>
          <p:cNvPr id="11" name="Picture 10">
            <a:extLst>
              <a:ext uri="{FF2B5EF4-FFF2-40B4-BE49-F238E27FC236}">
                <a16:creationId xmlns:a16="http://schemas.microsoft.com/office/drawing/2014/main" id="{103C29C8-BC1D-0462-71CE-73BD14F858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5496" y="1613637"/>
            <a:ext cx="5389581" cy="4012600"/>
          </a:xfrm>
          <a:prstGeom prst="rect">
            <a:avLst/>
          </a:prstGeom>
        </p:spPr>
      </p:pic>
      <p:sp>
        <p:nvSpPr>
          <p:cNvPr id="13" name="TextBox 12">
            <a:extLst>
              <a:ext uri="{FF2B5EF4-FFF2-40B4-BE49-F238E27FC236}">
                <a16:creationId xmlns:a16="http://schemas.microsoft.com/office/drawing/2014/main" id="{1F5265AF-219A-BA4D-B959-1147C7029CCC}"/>
              </a:ext>
            </a:extLst>
          </p:cNvPr>
          <p:cNvSpPr txBox="1"/>
          <p:nvPr/>
        </p:nvSpPr>
        <p:spPr>
          <a:xfrm>
            <a:off x="385030" y="5809129"/>
            <a:ext cx="5499406" cy="523220"/>
          </a:xfrm>
          <a:prstGeom prst="rect">
            <a:avLst/>
          </a:prstGeom>
          <a:noFill/>
        </p:spPr>
        <p:txBody>
          <a:bodyPr wrap="square" rtlCol="0">
            <a:spAutoFit/>
          </a:bodyPr>
          <a:lstStyle/>
          <a:p>
            <a:r>
              <a:rPr lang="en-IN" sz="1400" b="1" dirty="0"/>
              <a:t>Spear Phishing : </a:t>
            </a:r>
            <a:r>
              <a:rPr lang="en-IN" sz="1400" dirty="0"/>
              <a:t>An employee receives a personalized fake email from their manager.</a:t>
            </a:r>
          </a:p>
        </p:txBody>
      </p:sp>
      <p:sp>
        <p:nvSpPr>
          <p:cNvPr id="15" name="TextBox 14">
            <a:extLst>
              <a:ext uri="{FF2B5EF4-FFF2-40B4-BE49-F238E27FC236}">
                <a16:creationId xmlns:a16="http://schemas.microsoft.com/office/drawing/2014/main" id="{C3E1A9CB-8242-B567-2DCB-1F4EEB1F4A08}"/>
              </a:ext>
            </a:extLst>
          </p:cNvPr>
          <p:cNvSpPr txBox="1"/>
          <p:nvPr/>
        </p:nvSpPr>
        <p:spPr>
          <a:xfrm>
            <a:off x="6336254" y="5891018"/>
            <a:ext cx="5499406" cy="523220"/>
          </a:xfrm>
          <a:prstGeom prst="rect">
            <a:avLst/>
          </a:prstGeom>
          <a:noFill/>
        </p:spPr>
        <p:txBody>
          <a:bodyPr wrap="square" rtlCol="0">
            <a:spAutoFit/>
          </a:bodyPr>
          <a:lstStyle/>
          <a:p>
            <a:r>
              <a:rPr lang="en-IN" sz="1400" b="1" dirty="0"/>
              <a:t>Whaling : </a:t>
            </a:r>
            <a:r>
              <a:rPr lang="en-IN" sz="1400" dirty="0"/>
              <a:t>A CEO receives a fake invoice requesting a large payment.</a:t>
            </a:r>
          </a:p>
        </p:txBody>
      </p:sp>
    </p:spTree>
    <p:extLst>
      <p:ext uri="{BB962C8B-B14F-4D97-AF65-F5344CB8AC3E}">
        <p14:creationId xmlns:p14="http://schemas.microsoft.com/office/powerpoint/2010/main" val="366649710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3B334B-2AA4-9DEC-2C8B-1D6D3262E5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7768" y="706188"/>
            <a:ext cx="5147989" cy="4801727"/>
          </a:xfrm>
          <a:prstGeom prst="rect">
            <a:avLst/>
          </a:prstGeom>
        </p:spPr>
      </p:pic>
      <p:pic>
        <p:nvPicPr>
          <p:cNvPr id="7" name="Picture 6">
            <a:extLst>
              <a:ext uri="{FF2B5EF4-FFF2-40B4-BE49-F238E27FC236}">
                <a16:creationId xmlns:a16="http://schemas.microsoft.com/office/drawing/2014/main" id="{11CEF953-246B-D245-9432-CEE5058E9C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030" y="706188"/>
            <a:ext cx="5147989" cy="4801727"/>
          </a:xfrm>
          <a:prstGeom prst="rect">
            <a:avLst/>
          </a:prstGeom>
        </p:spPr>
      </p:pic>
      <p:sp>
        <p:nvSpPr>
          <p:cNvPr id="13" name="TextBox 12">
            <a:extLst>
              <a:ext uri="{FF2B5EF4-FFF2-40B4-BE49-F238E27FC236}">
                <a16:creationId xmlns:a16="http://schemas.microsoft.com/office/drawing/2014/main" id="{EEF0B555-24F4-0E48-718E-C33D3C8C6AC3}"/>
              </a:ext>
            </a:extLst>
          </p:cNvPr>
          <p:cNvSpPr txBox="1"/>
          <p:nvPr/>
        </p:nvSpPr>
        <p:spPr>
          <a:xfrm>
            <a:off x="6357767" y="5809129"/>
            <a:ext cx="4980791" cy="523220"/>
          </a:xfrm>
          <a:prstGeom prst="rect">
            <a:avLst/>
          </a:prstGeom>
          <a:noFill/>
        </p:spPr>
        <p:txBody>
          <a:bodyPr wrap="square" rtlCol="0">
            <a:spAutoFit/>
          </a:bodyPr>
          <a:lstStyle/>
          <a:p>
            <a:r>
              <a:rPr lang="en-IN" sz="1400" b="1" dirty="0"/>
              <a:t>Clone Phishing : </a:t>
            </a:r>
            <a:r>
              <a:rPr lang="en-IN" sz="1400" dirty="0"/>
              <a:t>A copied delivery email contains a fake tracking link.</a:t>
            </a:r>
          </a:p>
        </p:txBody>
      </p:sp>
      <p:sp>
        <p:nvSpPr>
          <p:cNvPr id="15" name="TextBox 14">
            <a:extLst>
              <a:ext uri="{FF2B5EF4-FFF2-40B4-BE49-F238E27FC236}">
                <a16:creationId xmlns:a16="http://schemas.microsoft.com/office/drawing/2014/main" id="{3102F220-4BDA-F21B-0DDF-A2E74903945F}"/>
              </a:ext>
            </a:extLst>
          </p:cNvPr>
          <p:cNvSpPr txBox="1"/>
          <p:nvPr/>
        </p:nvSpPr>
        <p:spPr>
          <a:xfrm>
            <a:off x="385030" y="5809129"/>
            <a:ext cx="5499406" cy="523220"/>
          </a:xfrm>
          <a:prstGeom prst="rect">
            <a:avLst/>
          </a:prstGeom>
          <a:noFill/>
        </p:spPr>
        <p:txBody>
          <a:bodyPr wrap="square" rtlCol="0">
            <a:spAutoFit/>
          </a:bodyPr>
          <a:lstStyle/>
          <a:p>
            <a:r>
              <a:rPr lang="en-IN" sz="1400" b="1" dirty="0"/>
              <a:t>BEC : </a:t>
            </a:r>
            <a:r>
              <a:rPr lang="en-IN" sz="1400" dirty="0"/>
              <a:t>A fake finance manager requests a payment to a fraudster's bank account</a:t>
            </a:r>
          </a:p>
        </p:txBody>
      </p:sp>
    </p:spTree>
    <p:extLst>
      <p:ext uri="{BB962C8B-B14F-4D97-AF65-F5344CB8AC3E}">
        <p14:creationId xmlns:p14="http://schemas.microsoft.com/office/powerpoint/2010/main" val="2250978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84FE51-2C5B-0C25-6BC4-F0105328E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368" y="602425"/>
            <a:ext cx="5226394" cy="4874232"/>
          </a:xfrm>
          <a:prstGeom prst="rect">
            <a:avLst/>
          </a:prstGeom>
        </p:spPr>
      </p:pic>
      <p:pic>
        <p:nvPicPr>
          <p:cNvPr id="7" name="Picture 6">
            <a:extLst>
              <a:ext uri="{FF2B5EF4-FFF2-40B4-BE49-F238E27FC236}">
                <a16:creationId xmlns:a16="http://schemas.microsoft.com/office/drawing/2014/main" id="{60A01E61-9844-227D-DC73-B36A1DD3AE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9240" y="602424"/>
            <a:ext cx="4986139" cy="4874232"/>
          </a:xfrm>
          <a:prstGeom prst="rect">
            <a:avLst/>
          </a:prstGeom>
        </p:spPr>
      </p:pic>
      <p:sp>
        <p:nvSpPr>
          <p:cNvPr id="10" name="TextBox 9">
            <a:extLst>
              <a:ext uri="{FF2B5EF4-FFF2-40B4-BE49-F238E27FC236}">
                <a16:creationId xmlns:a16="http://schemas.microsoft.com/office/drawing/2014/main" id="{7C125AB4-589C-AA74-D334-9F144F631E3F}"/>
              </a:ext>
            </a:extLst>
          </p:cNvPr>
          <p:cNvSpPr txBox="1"/>
          <p:nvPr/>
        </p:nvSpPr>
        <p:spPr>
          <a:xfrm>
            <a:off x="6449240" y="5809129"/>
            <a:ext cx="5244322" cy="523220"/>
          </a:xfrm>
          <a:prstGeom prst="rect">
            <a:avLst/>
          </a:prstGeom>
          <a:noFill/>
        </p:spPr>
        <p:txBody>
          <a:bodyPr wrap="square" rtlCol="0">
            <a:spAutoFit/>
          </a:bodyPr>
          <a:lstStyle/>
          <a:p>
            <a:r>
              <a:rPr lang="en-IN" sz="1400" b="1" dirty="0"/>
              <a:t>Snowshoeing: </a:t>
            </a:r>
            <a:r>
              <a:rPr lang="en-IN" sz="1400" dirty="0"/>
              <a:t>Attackers send phishing emails from many different domains to avoid email security filters.</a:t>
            </a:r>
          </a:p>
        </p:txBody>
      </p:sp>
      <p:sp>
        <p:nvSpPr>
          <p:cNvPr id="12" name="TextBox 11">
            <a:extLst>
              <a:ext uri="{FF2B5EF4-FFF2-40B4-BE49-F238E27FC236}">
                <a16:creationId xmlns:a16="http://schemas.microsoft.com/office/drawing/2014/main" id="{AD5C3BE2-5E41-85FA-3C63-D36313FAEA6F}"/>
              </a:ext>
            </a:extLst>
          </p:cNvPr>
          <p:cNvSpPr txBox="1"/>
          <p:nvPr/>
        </p:nvSpPr>
        <p:spPr>
          <a:xfrm>
            <a:off x="516368" y="5809129"/>
            <a:ext cx="5244322" cy="523220"/>
          </a:xfrm>
          <a:prstGeom prst="rect">
            <a:avLst/>
          </a:prstGeom>
          <a:noFill/>
        </p:spPr>
        <p:txBody>
          <a:bodyPr wrap="square" rtlCol="0">
            <a:spAutoFit/>
          </a:bodyPr>
          <a:lstStyle/>
          <a:p>
            <a:r>
              <a:rPr lang="en-IN" sz="1400" b="1" dirty="0"/>
              <a:t>Vishing: </a:t>
            </a:r>
            <a:r>
              <a:rPr lang="en-IN" sz="1400" dirty="0"/>
              <a:t>A fraudster pretends to be a bank employee and asks for confidential details.</a:t>
            </a:r>
          </a:p>
        </p:txBody>
      </p:sp>
    </p:spTree>
    <p:extLst>
      <p:ext uri="{BB962C8B-B14F-4D97-AF65-F5344CB8AC3E}">
        <p14:creationId xmlns:p14="http://schemas.microsoft.com/office/powerpoint/2010/main" val="208345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1" name="Rectangle 10">
            <a:extLst>
              <a:ext uri="{FF2B5EF4-FFF2-40B4-BE49-F238E27FC236}">
                <a16:creationId xmlns:a16="http://schemas.microsoft.com/office/drawing/2014/main" id="{D0D45553-91A4-480A-9577-0E0FC0D91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D240F8A8-FEA1-42C2-B259-27A935127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8D9461C-1D26-317E-1D43-03BC44CD3B28}"/>
              </a:ext>
            </a:extLst>
          </p:cNvPr>
          <p:cNvSpPr>
            <a:spLocks noGrp="1"/>
          </p:cNvSpPr>
          <p:nvPr>
            <p:ph type="title"/>
          </p:nvPr>
        </p:nvSpPr>
        <p:spPr>
          <a:xfrm>
            <a:off x="556591" y="1741714"/>
            <a:ext cx="3518452" cy="4117749"/>
          </a:xfrm>
        </p:spPr>
        <p:txBody>
          <a:bodyPr vert="horz" lIns="91440" tIns="45720" rIns="91440" bIns="45720" rtlCol="0" anchor="t">
            <a:normAutofit/>
          </a:bodyPr>
          <a:lstStyle/>
          <a:p>
            <a:pPr marR="0"/>
            <a:r>
              <a:rPr lang="en-US" i="0" u="none" strike="noStrike" baseline="0"/>
              <a:t>Aim and Research Objectives</a:t>
            </a:r>
          </a:p>
        </p:txBody>
      </p:sp>
      <p:graphicFrame>
        <p:nvGraphicFramePr>
          <p:cNvPr id="5" name="Text Placeholder 2">
            <a:extLst>
              <a:ext uri="{FF2B5EF4-FFF2-40B4-BE49-F238E27FC236}">
                <a16:creationId xmlns:a16="http://schemas.microsoft.com/office/drawing/2014/main" id="{7288D990-335A-A9E0-B23A-F6686553293C}"/>
              </a:ext>
            </a:extLst>
          </p:cNvPr>
          <p:cNvGraphicFramePr/>
          <p:nvPr>
            <p:extLst>
              <p:ext uri="{D42A27DB-BD31-4B8C-83A1-F6EECF244321}">
                <p14:modId xmlns:p14="http://schemas.microsoft.com/office/powerpoint/2010/main" val="2940223221"/>
              </p:ext>
            </p:extLst>
          </p:nvPr>
        </p:nvGraphicFramePr>
        <p:xfrm>
          <a:off x="5466523" y="1172818"/>
          <a:ext cx="5906328" cy="46866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1245602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7813C20-DA5E-2E12-7B49-04C4A18494B9}"/>
              </a:ext>
            </a:extLst>
          </p:cNvPr>
          <p:cNvSpPr>
            <a:spLocks noGrp="1"/>
          </p:cNvSpPr>
          <p:nvPr>
            <p:ph type="title"/>
          </p:nvPr>
        </p:nvSpPr>
        <p:spPr>
          <a:xfrm>
            <a:off x="810000" y="447188"/>
            <a:ext cx="5359921" cy="970450"/>
          </a:xfrm>
        </p:spPr>
        <p:txBody>
          <a:bodyPr vert="horz" lIns="91440" tIns="45720" rIns="91440" bIns="45720" rtlCol="0" anchor="b">
            <a:normAutofit/>
          </a:bodyPr>
          <a:lstStyle/>
          <a:p>
            <a:pPr marR="0">
              <a:lnSpc>
                <a:spcPct val="90000"/>
              </a:lnSpc>
            </a:pPr>
            <a:r>
              <a:rPr lang="en-US" sz="3100" i="0" u="none" strike="noStrike" baseline="0"/>
              <a:t>Literature and Theoretical Framework</a:t>
            </a:r>
          </a:p>
        </p:txBody>
      </p:sp>
      <p:sp>
        <p:nvSpPr>
          <p:cNvPr id="3" name="Text Placeholder 2">
            <a:extLst>
              <a:ext uri="{FF2B5EF4-FFF2-40B4-BE49-F238E27FC236}">
                <a16:creationId xmlns:a16="http://schemas.microsoft.com/office/drawing/2014/main" id="{683ACC96-C55E-EB2C-BD8A-BE27FB30FABC}"/>
              </a:ext>
            </a:extLst>
          </p:cNvPr>
          <p:cNvSpPr>
            <a:spLocks noGrp="1"/>
          </p:cNvSpPr>
          <p:nvPr>
            <p:ph type="body" idx="1"/>
          </p:nvPr>
        </p:nvSpPr>
        <p:spPr>
          <a:xfrm>
            <a:off x="818712" y="2222287"/>
            <a:ext cx="5351209" cy="3636511"/>
          </a:xfrm>
        </p:spPr>
        <p:txBody>
          <a:bodyPr vert="horz" lIns="91440" tIns="45720" rIns="91440" bIns="45720" rtlCol="0" anchor="ctr">
            <a:normAutofit/>
          </a:bodyPr>
          <a:lstStyle/>
          <a:p>
            <a:pPr marR="0" lvl="0">
              <a:lnSpc>
                <a:spcPct val="90000"/>
              </a:lnSpc>
            </a:pPr>
            <a:r>
              <a:rPr lang="en-US" b="0" i="0" u="none" strike="noStrike" baseline="0"/>
              <a:t>Human factors HFs are critical in putting organisations at risk of cybersecurity attacks. </a:t>
            </a:r>
          </a:p>
          <a:p>
            <a:pPr marR="0" lvl="0">
              <a:lnSpc>
                <a:spcPct val="90000"/>
              </a:lnSpc>
            </a:pPr>
            <a:r>
              <a:rPr lang="en-US" b="0" i="0" u="none" strike="noStrike" baseline="0"/>
              <a:t>Protection Motivation Theory is a theory that describes the intentions of protection behaviour related to security. </a:t>
            </a:r>
          </a:p>
          <a:p>
            <a:pPr marR="0" lvl="0">
              <a:lnSpc>
                <a:spcPct val="90000"/>
              </a:lnSpc>
            </a:pPr>
            <a:r>
              <a:rPr lang="en-US" b="0" i="0" u="none" strike="noStrike" baseline="0"/>
              <a:t>Theory of Planned Behaviour: The theory of Planned Behaviour looks at issues that affect employee behaviour. </a:t>
            </a:r>
          </a:p>
          <a:p>
            <a:pPr marR="0" lvl="0">
              <a:lnSpc>
                <a:spcPct val="90000"/>
              </a:lnSpc>
            </a:pPr>
            <a:r>
              <a:rPr lang="en-US" b="0" i="0" u="none" strike="noStrike" baseline="0"/>
              <a:t>Both models promote the interpretation of cybersecurity awareness and behavioural responses (Abrahams et al., 2024).  </a:t>
            </a:r>
          </a:p>
        </p:txBody>
      </p:sp>
      <p:sp>
        <p:nvSpPr>
          <p:cNvPr id="11" name="Rectangle 10">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B2C2ED6-ED7B-C241-4F09-560888DE7F38}"/>
              </a:ext>
            </a:extLst>
          </p:cNvPr>
          <p:cNvPicPr>
            <a:picLocks noChangeAspect="1"/>
          </p:cNvPicPr>
          <p:nvPr/>
        </p:nvPicPr>
        <p:blipFill>
          <a:blip r:embed="rId3"/>
          <a:srcRect r="2" b="5872"/>
          <a:stretch>
            <a:fillRect/>
          </a:stretch>
        </p:blipFill>
        <p:spPr>
          <a:xfrm>
            <a:off x="7410517" y="1258529"/>
            <a:ext cx="3832042" cy="4330205"/>
          </a:xfrm>
          <a:prstGeom prst="rect">
            <a:avLst/>
          </a:prstGeom>
        </p:spPr>
      </p:pic>
    </p:spTree>
    <p:extLst>
      <p:ext uri="{BB962C8B-B14F-4D97-AF65-F5344CB8AC3E}">
        <p14:creationId xmlns:p14="http://schemas.microsoft.com/office/powerpoint/2010/main" val="2412096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0DED6AB-9C45-29D5-E196-59345FA4C9CA}"/>
              </a:ext>
            </a:extLst>
          </p:cNvPr>
          <p:cNvSpPr>
            <a:spLocks noGrp="1"/>
          </p:cNvSpPr>
          <p:nvPr>
            <p:ph type="title"/>
          </p:nvPr>
        </p:nvSpPr>
        <p:spPr>
          <a:xfrm>
            <a:off x="810000" y="447188"/>
            <a:ext cx="10571998" cy="970450"/>
          </a:xfrm>
        </p:spPr>
        <p:txBody>
          <a:bodyPr vert="horz" lIns="91440" tIns="45720" rIns="91440" bIns="45720" rtlCol="0" anchor="b">
            <a:normAutofit/>
          </a:bodyPr>
          <a:lstStyle/>
          <a:p>
            <a:pPr marR="0"/>
            <a:r>
              <a:rPr lang="en-US" i="0" u="none" strike="noStrike" baseline="0"/>
              <a:t>Research Methodology</a:t>
            </a:r>
          </a:p>
        </p:txBody>
      </p:sp>
      <p:sp>
        <p:nvSpPr>
          <p:cNvPr id="3" name="Text Placeholder 2">
            <a:extLst>
              <a:ext uri="{FF2B5EF4-FFF2-40B4-BE49-F238E27FC236}">
                <a16:creationId xmlns:a16="http://schemas.microsoft.com/office/drawing/2014/main" id="{D48ED200-92EB-D586-F817-0CC4D8E4A9CE}"/>
              </a:ext>
            </a:extLst>
          </p:cNvPr>
          <p:cNvSpPr>
            <a:spLocks noGrp="1"/>
          </p:cNvSpPr>
          <p:nvPr>
            <p:ph type="body" idx="1"/>
          </p:nvPr>
        </p:nvSpPr>
        <p:spPr>
          <a:xfrm>
            <a:off x="818713" y="2413000"/>
            <a:ext cx="3835583" cy="3632200"/>
          </a:xfrm>
        </p:spPr>
        <p:txBody>
          <a:bodyPr vert="horz" lIns="91440" tIns="45720" rIns="91440" bIns="45720" rtlCol="0" anchor="ctr">
            <a:normAutofit/>
          </a:bodyPr>
          <a:lstStyle/>
          <a:p>
            <a:pPr marR="0" lvl="0"/>
            <a:r>
              <a:rPr lang="en-US" sz="1600" b="0" i="0" u="none" strike="noStrike" baseline="0"/>
              <a:t>The study has an interpretivist philosophical approach to analysis. </a:t>
            </a:r>
          </a:p>
          <a:p>
            <a:pPr marR="0" lvl="0"/>
            <a:r>
              <a:rPr lang="en-US" sz="1600" b="0" i="0" u="none" strike="noStrike" baseline="0"/>
              <a:t>An inductive approach extracts themes through existing literature (Bishop et al., 2025). </a:t>
            </a:r>
          </a:p>
          <a:p>
            <a:pPr marR="0" lvl="0"/>
            <a:r>
              <a:rPr lang="en-US" sz="1600" b="0" i="0" u="none" strike="noStrike" baseline="0"/>
              <a:t>The primary evidence base is provided by secondary qualitative research. </a:t>
            </a:r>
          </a:p>
          <a:p>
            <a:pPr marR="0" lvl="0"/>
            <a:r>
              <a:rPr lang="en-US" sz="1600" b="0" i="0" u="none" strike="noStrike" baseline="0"/>
              <a:t>The thematic analysis determines patterns found in the sampled sources.  </a:t>
            </a:r>
          </a:p>
        </p:txBody>
      </p:sp>
      <p:pic>
        <p:nvPicPr>
          <p:cNvPr id="4" name="Picture 3">
            <a:extLst>
              <a:ext uri="{FF2B5EF4-FFF2-40B4-BE49-F238E27FC236}">
                <a16:creationId xmlns:a16="http://schemas.microsoft.com/office/drawing/2014/main" id="{395A7A0C-FCF7-9E1D-0BEC-879E4B28B7C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0419" b="8600"/>
          <a:stretch>
            <a:fillRect/>
          </a:stretch>
        </p:blipFill>
        <p:spPr bwMode="auto">
          <a:xfrm>
            <a:off x="5633055" y="2413000"/>
            <a:ext cx="5214940" cy="3716338"/>
          </a:xfrm>
          <a:prstGeom prst="roundRect">
            <a:avLst>
              <a:gd name="adj" fmla="val 3876"/>
            </a:avLst>
          </a:prstGeom>
          <a:ln>
            <a:solidFill>
              <a:schemeClr val="accent1"/>
            </a:solidFill>
          </a:ln>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37701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257159D-0BC8-9472-FDAA-21FA62BBC36A}"/>
              </a:ext>
            </a:extLst>
          </p:cNvPr>
          <p:cNvSpPr>
            <a:spLocks noGrp="1"/>
          </p:cNvSpPr>
          <p:nvPr>
            <p:ph type="title"/>
          </p:nvPr>
        </p:nvSpPr>
        <p:spPr>
          <a:xfrm>
            <a:off x="810000" y="447188"/>
            <a:ext cx="10571998" cy="970450"/>
          </a:xfrm>
        </p:spPr>
        <p:txBody>
          <a:bodyPr vert="horz" lIns="91440" tIns="45720" rIns="91440" bIns="45720" rtlCol="0" anchor="b">
            <a:normAutofit/>
          </a:bodyPr>
          <a:lstStyle/>
          <a:p>
            <a:pPr marR="0"/>
            <a:r>
              <a:rPr lang="en-US" i="0" u="none" strike="noStrike" baseline="0"/>
              <a:t>Finding One: Human Error</a:t>
            </a:r>
          </a:p>
        </p:txBody>
      </p:sp>
      <p:sp>
        <p:nvSpPr>
          <p:cNvPr id="3" name="Text Placeholder 2">
            <a:extLst>
              <a:ext uri="{FF2B5EF4-FFF2-40B4-BE49-F238E27FC236}">
                <a16:creationId xmlns:a16="http://schemas.microsoft.com/office/drawing/2014/main" id="{321AF409-181E-5DE2-BB81-3758E1E8BA2A}"/>
              </a:ext>
            </a:extLst>
          </p:cNvPr>
          <p:cNvSpPr>
            <a:spLocks noGrp="1"/>
          </p:cNvSpPr>
          <p:nvPr>
            <p:ph type="body" idx="1"/>
          </p:nvPr>
        </p:nvSpPr>
        <p:spPr>
          <a:xfrm>
            <a:off x="818713" y="2413000"/>
            <a:ext cx="3835583" cy="3632200"/>
          </a:xfrm>
        </p:spPr>
        <p:txBody>
          <a:bodyPr vert="horz" lIns="91440" tIns="45720" rIns="91440" bIns="45720" rtlCol="0" anchor="ctr">
            <a:normAutofit/>
          </a:bodyPr>
          <a:lstStyle/>
          <a:p>
            <a:pPr marR="0" lvl="0">
              <a:lnSpc>
                <a:spcPct val="90000"/>
              </a:lnSpc>
            </a:pPr>
            <a:r>
              <a:rPr lang="en-US" sz="1600" b="0" i="0" u="none" strike="noStrike" baseline="0" dirty="0"/>
              <a:t>Human error represents an important </a:t>
            </a:r>
            <a:r>
              <a:rPr lang="en-US" sz="1600" b="0" i="0" u="none" strike="noStrike" baseline="0" dirty="0" err="1"/>
              <a:t>organisational</a:t>
            </a:r>
            <a:r>
              <a:rPr lang="en-US" sz="1600" b="0" i="0" u="none" strike="noStrike" baseline="0" dirty="0"/>
              <a:t> cybersecurity vulnerability. </a:t>
            </a:r>
          </a:p>
          <a:p>
            <a:pPr marR="0" lvl="0">
              <a:lnSpc>
                <a:spcPct val="90000"/>
              </a:lnSpc>
            </a:pPr>
            <a:r>
              <a:rPr lang="en-US" sz="1600" b="0" i="0" u="none" strike="noStrike" baseline="0" dirty="0"/>
              <a:t>Phishing can exploit judgement and decision-making of staff (Chaudhary et al., 2022). </a:t>
            </a:r>
          </a:p>
          <a:p>
            <a:pPr marR="0" lvl="0">
              <a:lnSpc>
                <a:spcPct val="90000"/>
              </a:lnSpc>
            </a:pPr>
            <a:r>
              <a:rPr lang="en-US" sz="1600" b="0" i="0" u="none" strike="noStrike" baseline="0" dirty="0"/>
              <a:t>Weak password habits may enhance the risk of </a:t>
            </a:r>
            <a:r>
              <a:rPr lang="en-US" sz="1600" b="0" i="0" u="none" strike="noStrike" baseline="0" dirty="0" err="1"/>
              <a:t>unauthorised</a:t>
            </a:r>
            <a:r>
              <a:rPr lang="en-US" sz="1600" b="0" i="0" u="none" strike="noStrike" baseline="0" dirty="0"/>
              <a:t> access. </a:t>
            </a:r>
          </a:p>
          <a:p>
            <a:pPr marR="0" lvl="0">
              <a:lnSpc>
                <a:spcPct val="90000"/>
              </a:lnSpc>
            </a:pPr>
            <a:r>
              <a:rPr lang="en-US" sz="1600" b="0" i="0" u="none" strike="noStrike" baseline="0" dirty="0"/>
              <a:t>Social engineering involves manipulation of the employees through the use of trick communication. </a:t>
            </a:r>
          </a:p>
        </p:txBody>
      </p:sp>
      <p:pic>
        <p:nvPicPr>
          <p:cNvPr id="4" name="Picture 3" descr="What is Social Engineering? - ExterNetworks">
            <a:extLst>
              <a:ext uri="{FF2B5EF4-FFF2-40B4-BE49-F238E27FC236}">
                <a16:creationId xmlns:a16="http://schemas.microsoft.com/office/drawing/2014/main" id="{BC73E888-A1D4-4B6D-1C63-2FC3AADBF6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359643" y="2413000"/>
            <a:ext cx="5761764"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3881393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83DCECF-4F7D-9702-1388-BB5541B4B1CD}"/>
              </a:ext>
            </a:extLst>
          </p:cNvPr>
          <p:cNvSpPr>
            <a:spLocks noGrp="1"/>
          </p:cNvSpPr>
          <p:nvPr>
            <p:ph type="title"/>
          </p:nvPr>
        </p:nvSpPr>
        <p:spPr>
          <a:xfrm>
            <a:off x="810000" y="447188"/>
            <a:ext cx="5359921" cy="970450"/>
          </a:xfrm>
        </p:spPr>
        <p:txBody>
          <a:bodyPr vert="horz" lIns="91440" tIns="45720" rIns="91440" bIns="45720" rtlCol="0" anchor="b">
            <a:normAutofit/>
          </a:bodyPr>
          <a:lstStyle/>
          <a:p>
            <a:pPr marR="0">
              <a:lnSpc>
                <a:spcPct val="90000"/>
              </a:lnSpc>
            </a:pPr>
            <a:r>
              <a:rPr lang="en-US" sz="3100" i="0" u="none" strike="noStrike" baseline="0"/>
              <a:t>Finding Two: Awareness Programmes</a:t>
            </a:r>
          </a:p>
        </p:txBody>
      </p:sp>
      <p:sp>
        <p:nvSpPr>
          <p:cNvPr id="3" name="Text Placeholder 2">
            <a:extLst>
              <a:ext uri="{FF2B5EF4-FFF2-40B4-BE49-F238E27FC236}">
                <a16:creationId xmlns:a16="http://schemas.microsoft.com/office/drawing/2014/main" id="{D1FDECF3-8CB1-8949-EC50-6E47C90F1E8C}"/>
              </a:ext>
            </a:extLst>
          </p:cNvPr>
          <p:cNvSpPr>
            <a:spLocks noGrp="1"/>
          </p:cNvSpPr>
          <p:nvPr>
            <p:ph type="body" idx="1"/>
          </p:nvPr>
        </p:nvSpPr>
        <p:spPr>
          <a:xfrm>
            <a:off x="818712" y="2222287"/>
            <a:ext cx="5351209" cy="3636511"/>
          </a:xfrm>
        </p:spPr>
        <p:txBody>
          <a:bodyPr vert="horz" lIns="91440" tIns="45720" rIns="91440" bIns="45720" rtlCol="0" anchor="ctr">
            <a:normAutofit/>
          </a:bodyPr>
          <a:lstStyle/>
          <a:p>
            <a:pPr marR="0" lvl="0"/>
            <a:r>
              <a:rPr lang="en-US" b="0" i="0" u="none" strike="noStrike" baseline="0" dirty="0"/>
              <a:t>Staff awareness may be increased by cybersecurity awareness </a:t>
            </a:r>
            <a:r>
              <a:rPr lang="en-US" b="0" i="0" u="none" strike="noStrike" baseline="0" dirty="0" err="1"/>
              <a:t>programmes</a:t>
            </a:r>
            <a:r>
              <a:rPr lang="en-US" b="0" i="0" u="none" strike="noStrike" baseline="0" dirty="0"/>
              <a:t>. </a:t>
            </a:r>
          </a:p>
          <a:p>
            <a:pPr marR="0" lvl="0"/>
            <a:r>
              <a:rPr lang="en-US" b="0" i="0" u="none" strike="noStrike" baseline="0" dirty="0"/>
              <a:t>Training promotes awareness of typical cyber threats. </a:t>
            </a:r>
          </a:p>
          <a:p>
            <a:pPr marR="0" lvl="0"/>
            <a:r>
              <a:rPr lang="en-US" b="0" i="0" u="none" strike="noStrike" baseline="0" dirty="0"/>
              <a:t>Employee participation influences the quality and responsibility of the awareness </a:t>
            </a:r>
            <a:r>
              <a:rPr lang="en-US" b="0" i="0" u="none" strike="noStrike" baseline="0" dirty="0" err="1"/>
              <a:t>programme</a:t>
            </a:r>
            <a:r>
              <a:rPr lang="en-US" b="0" i="0" u="none" strike="noStrike" baseline="0" dirty="0"/>
              <a:t>. </a:t>
            </a:r>
          </a:p>
          <a:p>
            <a:pPr marR="0" lvl="0"/>
            <a:r>
              <a:rPr lang="en-US" b="0" i="0" u="none" strike="noStrike" baseline="0" dirty="0"/>
              <a:t>Continuous learning can reinforce proper cybersecurity </a:t>
            </a:r>
            <a:r>
              <a:rPr lang="en-US" b="0" i="0" u="none" strike="noStrike" baseline="0" dirty="0" err="1"/>
              <a:t>behaviours</a:t>
            </a:r>
            <a:r>
              <a:rPr lang="en-US" b="0" i="0" u="none" strike="noStrike" baseline="0" dirty="0"/>
              <a:t>. </a:t>
            </a:r>
          </a:p>
        </p:txBody>
      </p:sp>
      <p:sp>
        <p:nvSpPr>
          <p:cNvPr id="11" name="Rectangle 10">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55BB2DB-0AA5-3CB9-CC02-ABB523F70CAE}"/>
              </a:ext>
            </a:extLst>
          </p:cNvPr>
          <p:cNvPicPr>
            <a:picLocks noChangeAspect="1"/>
          </p:cNvPicPr>
          <p:nvPr/>
        </p:nvPicPr>
        <p:blipFill rotWithShape="1">
          <a:blip r:embed="rId3">
            <a:extLst>
              <a:ext uri="{28A0092B-C50C-407E-A947-70E740481C1C}">
                <a14:useLocalDpi xmlns:a14="http://schemas.microsoft.com/office/drawing/2010/main" val="0"/>
              </a:ext>
            </a:extLst>
          </a:blip>
          <a:srcRect l="5464" r="6045" b="5"/>
          <a:stretch>
            <a:fillRect/>
          </a:stretch>
        </p:blipFill>
        <p:spPr bwMode="auto">
          <a:xfrm>
            <a:off x="7410517" y="1258529"/>
            <a:ext cx="3832042" cy="4330205"/>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262677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821ABE6-1CEF-8295-D11E-CE9738C5C827}"/>
              </a:ext>
            </a:extLst>
          </p:cNvPr>
          <p:cNvSpPr>
            <a:spLocks noGrp="1"/>
          </p:cNvSpPr>
          <p:nvPr>
            <p:ph type="title"/>
          </p:nvPr>
        </p:nvSpPr>
        <p:spPr>
          <a:xfrm>
            <a:off x="810000" y="447188"/>
            <a:ext cx="5359921" cy="970450"/>
          </a:xfrm>
        </p:spPr>
        <p:txBody>
          <a:bodyPr vert="horz" lIns="91440" tIns="45720" rIns="91440" bIns="45720" rtlCol="0" anchor="b">
            <a:normAutofit/>
          </a:bodyPr>
          <a:lstStyle/>
          <a:p>
            <a:pPr marR="0">
              <a:lnSpc>
                <a:spcPct val="90000"/>
              </a:lnSpc>
            </a:pPr>
            <a:r>
              <a:rPr lang="en-US" sz="3100" i="0" u="none" strike="noStrike" baseline="0"/>
              <a:t>Finding Three: Security Culture</a:t>
            </a:r>
          </a:p>
        </p:txBody>
      </p:sp>
      <p:sp>
        <p:nvSpPr>
          <p:cNvPr id="3" name="Text Placeholder 2">
            <a:extLst>
              <a:ext uri="{FF2B5EF4-FFF2-40B4-BE49-F238E27FC236}">
                <a16:creationId xmlns:a16="http://schemas.microsoft.com/office/drawing/2014/main" id="{05C54CF1-3E79-9F5E-BA73-E146674C1AEF}"/>
              </a:ext>
            </a:extLst>
          </p:cNvPr>
          <p:cNvSpPr>
            <a:spLocks noGrp="1"/>
          </p:cNvSpPr>
          <p:nvPr>
            <p:ph type="body" idx="1"/>
          </p:nvPr>
        </p:nvSpPr>
        <p:spPr>
          <a:xfrm>
            <a:off x="818712" y="2222287"/>
            <a:ext cx="5351209" cy="3636511"/>
          </a:xfrm>
        </p:spPr>
        <p:txBody>
          <a:bodyPr vert="horz" lIns="91440" tIns="45720" rIns="91440" bIns="45720" rtlCol="0" anchor="ctr">
            <a:normAutofit/>
          </a:bodyPr>
          <a:lstStyle/>
          <a:p>
            <a:pPr marR="0" lvl="0"/>
            <a:r>
              <a:rPr lang="en-US" b="0" i="0" u="none" strike="noStrike" baseline="0"/>
              <a:t>The organisational culture affects the day-to-day cybersecurity behaviour of the workers. </a:t>
            </a:r>
          </a:p>
          <a:p>
            <a:pPr marR="0" lvl="0"/>
            <a:r>
              <a:rPr lang="en-US" b="0" i="0" u="none" strike="noStrike" baseline="0"/>
              <a:t>Security cannot be the prerogative of special technical groups (Taherdoost, 2024). </a:t>
            </a:r>
          </a:p>
          <a:p>
            <a:pPr marR="0" lvl="0"/>
            <a:r>
              <a:rPr lang="en-US" b="0" i="0" u="none" strike="noStrike" baseline="0"/>
              <a:t>Management can support organisation awareness practices. </a:t>
            </a:r>
          </a:p>
          <a:p>
            <a:pPr marR="0" lvl="0"/>
            <a:r>
              <a:rPr lang="en-US" b="0" i="0" u="none" strike="noStrike" baseline="0"/>
              <a:t>The common responsibility promotes greater participation of employees in terms of security.  </a:t>
            </a:r>
          </a:p>
        </p:txBody>
      </p:sp>
      <p:sp>
        <p:nvSpPr>
          <p:cNvPr id="11" name="Rectangle 10">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ow to Create a Security Culture in Your Organization">
            <a:extLst>
              <a:ext uri="{FF2B5EF4-FFF2-40B4-BE49-F238E27FC236}">
                <a16:creationId xmlns:a16="http://schemas.microsoft.com/office/drawing/2014/main" id="{FBD68AE5-F289-0E89-8AE0-29632062E8E5}"/>
              </a:ext>
            </a:extLst>
          </p:cNvPr>
          <p:cNvPicPr>
            <a:picLocks noChangeAspect="1"/>
          </p:cNvPicPr>
          <p:nvPr/>
        </p:nvPicPr>
        <p:blipFill>
          <a:blip r:embed="rId3" cstate="print">
            <a:extLst>
              <a:ext uri="{28A0092B-C50C-407E-A947-70E740481C1C}">
                <a14:useLocalDpi xmlns:a14="http://schemas.microsoft.com/office/drawing/2010/main" val="0"/>
              </a:ext>
            </a:extLst>
          </a:blip>
          <a:srcRect l="23709" r="20761" b="1"/>
          <a:stretch>
            <a:fillRect/>
          </a:stretch>
        </p:blipFill>
        <p:spPr bwMode="auto">
          <a:xfrm>
            <a:off x="7410517" y="1258529"/>
            <a:ext cx="3832042" cy="4330205"/>
          </a:xfrm>
          <a:prstGeom prst="rect">
            <a:avLst/>
          </a:prstGeom>
        </p:spPr>
      </p:pic>
    </p:spTree>
    <p:extLst>
      <p:ext uri="{BB962C8B-B14F-4D97-AF65-F5344CB8AC3E}">
        <p14:creationId xmlns:p14="http://schemas.microsoft.com/office/powerpoint/2010/main" val="1948201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454CA77-0F1A-E497-D49A-3E3E48A4B585}"/>
              </a:ext>
            </a:extLst>
          </p:cNvPr>
          <p:cNvSpPr>
            <a:spLocks noGrp="1"/>
          </p:cNvSpPr>
          <p:nvPr>
            <p:ph type="title"/>
          </p:nvPr>
        </p:nvSpPr>
        <p:spPr>
          <a:xfrm>
            <a:off x="810000" y="447188"/>
            <a:ext cx="10571998" cy="970450"/>
          </a:xfrm>
        </p:spPr>
        <p:txBody>
          <a:bodyPr vert="horz" lIns="91440" tIns="45720" rIns="91440" bIns="45720" rtlCol="0" anchor="b">
            <a:normAutofit/>
          </a:bodyPr>
          <a:lstStyle/>
          <a:p>
            <a:pPr marR="0">
              <a:lnSpc>
                <a:spcPct val="90000"/>
              </a:lnSpc>
            </a:pPr>
            <a:r>
              <a:rPr lang="en-US" sz="3400" i="0" u="none" strike="noStrike" baseline="0"/>
              <a:t>Discussion and Organisational Recommendations</a:t>
            </a:r>
          </a:p>
        </p:txBody>
      </p:sp>
      <p:sp>
        <p:nvSpPr>
          <p:cNvPr id="3" name="Text Placeholder 2">
            <a:extLst>
              <a:ext uri="{FF2B5EF4-FFF2-40B4-BE49-F238E27FC236}">
                <a16:creationId xmlns:a16="http://schemas.microsoft.com/office/drawing/2014/main" id="{13774DF1-6FE3-9984-7ED7-2D7C29C5227B}"/>
              </a:ext>
            </a:extLst>
          </p:cNvPr>
          <p:cNvSpPr>
            <a:spLocks noGrp="1"/>
          </p:cNvSpPr>
          <p:nvPr>
            <p:ph type="body" idx="1"/>
          </p:nvPr>
        </p:nvSpPr>
        <p:spPr>
          <a:xfrm>
            <a:off x="818713" y="2413000"/>
            <a:ext cx="3835583" cy="3632200"/>
          </a:xfrm>
        </p:spPr>
        <p:txBody>
          <a:bodyPr vert="horz" lIns="91440" tIns="45720" rIns="91440" bIns="45720" rtlCol="0" anchor="ctr">
            <a:normAutofit/>
          </a:bodyPr>
          <a:lstStyle/>
          <a:p>
            <a:pPr marR="0" lvl="0"/>
            <a:r>
              <a:rPr lang="en-US" sz="1600" b="0" i="0" u="none" strike="noStrike" baseline="0"/>
              <a:t>Technical cybersecurity controls in organisations need to be supplemented by awareness. </a:t>
            </a:r>
          </a:p>
          <a:p>
            <a:pPr marR="0" lvl="0"/>
            <a:r>
              <a:rPr lang="en-US" sz="1600" b="0" i="0" u="none" strike="noStrike" baseline="0"/>
              <a:t>The training should address realistic, employee-specific cybersecurity risks. </a:t>
            </a:r>
          </a:p>
          <a:p>
            <a:pPr marR="0" lvl="0"/>
            <a:r>
              <a:rPr lang="en-US" sz="1600" b="0" i="0" u="none" strike="noStrike" baseline="0"/>
              <a:t>Security policies in organisations should be reinforced through constant communication. </a:t>
            </a:r>
          </a:p>
          <a:p>
            <a:pPr marR="0" lvl="0"/>
            <a:r>
              <a:rPr lang="en-US" sz="1600" b="0" i="0" u="none" strike="noStrike" baseline="0"/>
              <a:t>The management must promote responsibility and collective security.  </a:t>
            </a:r>
          </a:p>
        </p:txBody>
      </p:sp>
      <p:pic>
        <p:nvPicPr>
          <p:cNvPr id="4" name="Picture 3" descr="Employee Security Awareness">
            <a:extLst>
              <a:ext uri="{FF2B5EF4-FFF2-40B4-BE49-F238E27FC236}">
                <a16:creationId xmlns:a16="http://schemas.microsoft.com/office/drawing/2014/main" id="{0996618A-13E2-21DC-82FF-65912855C8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5101851" y="2505665"/>
            <a:ext cx="6277349" cy="353100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4204914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1" name="Rectangle 10">
            <a:extLst>
              <a:ext uri="{FF2B5EF4-FFF2-40B4-BE49-F238E27FC236}">
                <a16:creationId xmlns:a16="http://schemas.microsoft.com/office/drawing/2014/main" id="{D0D45553-91A4-480A-9577-0E0FC0D91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D240F8A8-FEA1-42C2-B259-27A935127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98D4A93-F138-87A6-43C0-614466230160}"/>
              </a:ext>
            </a:extLst>
          </p:cNvPr>
          <p:cNvSpPr>
            <a:spLocks noGrp="1"/>
          </p:cNvSpPr>
          <p:nvPr>
            <p:ph type="title"/>
          </p:nvPr>
        </p:nvSpPr>
        <p:spPr>
          <a:xfrm>
            <a:off x="556591" y="1741714"/>
            <a:ext cx="3518452" cy="4117749"/>
          </a:xfrm>
        </p:spPr>
        <p:txBody>
          <a:bodyPr vert="horz" lIns="91440" tIns="45720" rIns="91440" bIns="45720" rtlCol="0" anchor="t">
            <a:normAutofit/>
          </a:bodyPr>
          <a:lstStyle/>
          <a:p>
            <a:pPr marR="0"/>
            <a:r>
              <a:rPr lang="en-US" i="0" u="none" strike="noStrike" baseline="0"/>
              <a:t>Conclusion and Future Research</a:t>
            </a:r>
          </a:p>
        </p:txBody>
      </p:sp>
      <p:graphicFrame>
        <p:nvGraphicFramePr>
          <p:cNvPr id="5" name="Text Placeholder 2">
            <a:extLst>
              <a:ext uri="{FF2B5EF4-FFF2-40B4-BE49-F238E27FC236}">
                <a16:creationId xmlns:a16="http://schemas.microsoft.com/office/drawing/2014/main" id="{C614C646-8B2D-B1CE-F447-96048D88A451}"/>
              </a:ext>
            </a:extLst>
          </p:cNvPr>
          <p:cNvGraphicFramePr/>
          <p:nvPr>
            <p:extLst>
              <p:ext uri="{D42A27DB-BD31-4B8C-83A1-F6EECF244321}">
                <p14:modId xmlns:p14="http://schemas.microsoft.com/office/powerpoint/2010/main" val="234776822"/>
              </p:ext>
            </p:extLst>
          </p:nvPr>
        </p:nvGraphicFramePr>
        <p:xfrm>
          <a:off x="5466523" y="1172818"/>
          <a:ext cx="5906328" cy="46866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3781744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0D57F2D-C8A2-E3B7-E105-0DFB7040CDFE}"/>
              </a:ext>
            </a:extLst>
          </p:cNvPr>
          <p:cNvSpPr>
            <a:spLocks noGrp="1"/>
          </p:cNvSpPr>
          <p:nvPr>
            <p:ph type="title"/>
          </p:nvPr>
        </p:nvSpPr>
        <p:spPr>
          <a:xfrm>
            <a:off x="451515" y="1734857"/>
            <a:ext cx="3765483" cy="3388287"/>
          </a:xfrm>
        </p:spPr>
        <p:txBody>
          <a:bodyPr vert="horz" lIns="91440" tIns="45720" rIns="91440" bIns="45720" rtlCol="0" anchor="ctr">
            <a:normAutofit/>
          </a:bodyPr>
          <a:lstStyle/>
          <a:p>
            <a:pPr marR="0"/>
            <a:r>
              <a:rPr lang="en-US" i="0" u="none" strike="noStrike" baseline="0"/>
              <a:t>References</a:t>
            </a:r>
          </a:p>
        </p:txBody>
      </p:sp>
      <p:sp>
        <p:nvSpPr>
          <p:cNvPr id="3" name="Text Placeholder 2">
            <a:extLst>
              <a:ext uri="{FF2B5EF4-FFF2-40B4-BE49-F238E27FC236}">
                <a16:creationId xmlns:a16="http://schemas.microsoft.com/office/drawing/2014/main" id="{5C9DF830-74BF-400B-3AAD-563F1CBE99EA}"/>
              </a:ext>
            </a:extLst>
          </p:cNvPr>
          <p:cNvSpPr>
            <a:spLocks noGrp="1"/>
          </p:cNvSpPr>
          <p:nvPr>
            <p:ph type="body" idx="1"/>
          </p:nvPr>
        </p:nvSpPr>
        <p:spPr>
          <a:xfrm>
            <a:off x="6008068" y="978993"/>
            <a:ext cx="5365218" cy="4900014"/>
          </a:xfrm>
          <a:effectLst/>
        </p:spPr>
        <p:txBody>
          <a:bodyPr vert="horz" lIns="91440" tIns="45720" rIns="91440" bIns="45720" rtlCol="0" anchor="ctr">
            <a:normAutofit/>
          </a:bodyPr>
          <a:lstStyle/>
          <a:p>
            <a:pPr marR="0" lvl="0">
              <a:lnSpc>
                <a:spcPct val="90000"/>
              </a:lnSpc>
            </a:pPr>
            <a:r>
              <a:rPr lang="en-US" sz="1300" b="0" i="0" u="none" strike="noStrike" baseline="0"/>
              <a:t>Abrahams, T.O., Farayola, O.A., Kaggwa, S., Uwaoma, P.U., Hassan, A.O. and Dawodu, S.O., 2024. Cybersecurity awareness and education programs: a review of employee engagement and accountability. </a:t>
            </a:r>
            <a:r>
              <a:rPr lang="en-US" sz="1300" b="0" i="1" u="none" strike="noStrike" baseline="0"/>
              <a:t>Computer Science &amp; IT Research Journal</a:t>
            </a:r>
            <a:r>
              <a:rPr lang="en-US" sz="1300" b="0" i="0" u="none" strike="noStrike" baseline="0"/>
              <a:t>, </a:t>
            </a:r>
            <a:r>
              <a:rPr lang="en-US" sz="1300" b="0" i="1" u="none" strike="noStrike" baseline="0"/>
              <a:t>5</a:t>
            </a:r>
            <a:r>
              <a:rPr lang="en-US" sz="1300" b="0" i="0" u="none" strike="noStrike" baseline="0"/>
              <a:t>(1), pp.100-119.</a:t>
            </a:r>
          </a:p>
          <a:p>
            <a:pPr marR="0" lvl="0">
              <a:lnSpc>
                <a:spcPct val="90000"/>
              </a:lnSpc>
            </a:pPr>
            <a:r>
              <a:rPr lang="en-US" sz="1300" b="0" i="0" u="none" strike="noStrike" baseline="0"/>
              <a:t>Bishop, L.M., Asquith, P.M. and Morgan, P.L., 2025. The employee cybersecurity awareness framework. </a:t>
            </a:r>
            <a:r>
              <a:rPr lang="en-US" sz="1300" b="0" i="1" u="none" strike="noStrike" baseline="0"/>
              <a:t>Human Behavior and Emerging Technologies</a:t>
            </a:r>
            <a:r>
              <a:rPr lang="en-US" sz="1300" b="0" i="0" u="none" strike="noStrike" baseline="0"/>
              <a:t>, </a:t>
            </a:r>
            <a:r>
              <a:rPr lang="en-US" sz="1300" b="0" i="1" u="none" strike="noStrike" baseline="0"/>
              <a:t>2025</a:t>
            </a:r>
            <a:r>
              <a:rPr lang="en-US" sz="1300" b="0" i="0" u="none" strike="noStrike" baseline="0"/>
              <a:t>(1), p.1025045.</a:t>
            </a:r>
          </a:p>
          <a:p>
            <a:pPr marR="0" lvl="0">
              <a:lnSpc>
                <a:spcPct val="90000"/>
              </a:lnSpc>
            </a:pPr>
            <a:r>
              <a:rPr lang="en-US" sz="1300" b="0" i="0" u="none" strike="noStrike" baseline="0"/>
              <a:t>Chaudhary, S., Gkioulos, V. and Katsikas, S., 2022. Developing metrics to assess the effectiveness of cybersecurity awareness program. </a:t>
            </a:r>
            <a:r>
              <a:rPr lang="en-US" sz="1300" b="0" i="1" u="none" strike="noStrike" baseline="0"/>
              <a:t>Journal of Cybersecurity</a:t>
            </a:r>
            <a:r>
              <a:rPr lang="en-US" sz="1300" b="0" i="0" u="none" strike="noStrike" baseline="0"/>
              <a:t>, </a:t>
            </a:r>
            <a:r>
              <a:rPr lang="en-US" sz="1300" b="0" i="1" u="none" strike="noStrike" baseline="0"/>
              <a:t>8</a:t>
            </a:r>
            <a:r>
              <a:rPr lang="en-US" sz="1300" b="0" i="0" u="none" strike="noStrike" baseline="0"/>
              <a:t>(1), p.tyac006.</a:t>
            </a:r>
          </a:p>
          <a:p>
            <a:pPr marR="0" lvl="0">
              <a:lnSpc>
                <a:spcPct val="90000"/>
              </a:lnSpc>
            </a:pPr>
            <a:r>
              <a:rPr lang="en-US" sz="1300" b="0" i="0" u="none" strike="noStrike" baseline="0"/>
              <a:t>Khadka, K. and Ullah, A.B., 2025. Human factors in cybersecurity: an interdisciplinary review and framework proposal: K. Khadka, AB Ullah. </a:t>
            </a:r>
            <a:r>
              <a:rPr lang="en-US" sz="1300" b="0" i="1" u="none" strike="noStrike" baseline="0"/>
              <a:t>International Journal of Information Security</a:t>
            </a:r>
            <a:r>
              <a:rPr lang="en-US" sz="1300" b="0" i="0" u="none" strike="noStrike" baseline="0"/>
              <a:t>, </a:t>
            </a:r>
            <a:r>
              <a:rPr lang="en-US" sz="1300" b="0" i="1" u="none" strike="noStrike" baseline="0"/>
              <a:t>24</a:t>
            </a:r>
            <a:r>
              <a:rPr lang="en-US" sz="1300" b="0" i="0" u="none" strike="noStrike" baseline="0"/>
              <a:t>(3), p.119.</a:t>
            </a:r>
          </a:p>
          <a:p>
            <a:pPr marR="0" lvl="0">
              <a:lnSpc>
                <a:spcPct val="90000"/>
              </a:lnSpc>
            </a:pPr>
            <a:r>
              <a:rPr lang="en-US" sz="1300" b="0" i="0" u="none" strike="noStrike" baseline="0"/>
              <a:t>Shah, M.U., Iqbal, F., Rehman, U. and Hung, P.C., 2023. A comparative assessment of human factors in cybersecurity: Implications for cyber governance. </a:t>
            </a:r>
            <a:r>
              <a:rPr lang="en-US" sz="1300" b="0" i="1" u="none" strike="noStrike" baseline="0"/>
              <a:t>IEEE Access</a:t>
            </a:r>
            <a:r>
              <a:rPr lang="en-US" sz="1300" b="0" i="0" u="none" strike="noStrike" baseline="0"/>
              <a:t>, </a:t>
            </a:r>
            <a:r>
              <a:rPr lang="en-US" sz="1300" b="0" i="1" u="none" strike="noStrike" baseline="0"/>
              <a:t>11</a:t>
            </a:r>
            <a:r>
              <a:rPr lang="en-US" sz="1300" b="0" i="0" u="none" strike="noStrike" baseline="0"/>
              <a:t>, pp.87970-87984.</a:t>
            </a:r>
          </a:p>
          <a:p>
            <a:pPr marR="0" lvl="0">
              <a:lnSpc>
                <a:spcPct val="90000"/>
              </a:lnSpc>
            </a:pPr>
            <a:r>
              <a:rPr lang="en-US" sz="1300" b="0" i="0" u="none" strike="noStrike" baseline="0"/>
              <a:t>Taherdoost, H., 2024. A critical review on cybersecurity awareness frameworks and training models. </a:t>
            </a:r>
            <a:r>
              <a:rPr lang="en-US" sz="1300" b="0" i="1" u="none" strike="noStrike" baseline="0"/>
              <a:t>Procedia computer science</a:t>
            </a:r>
            <a:r>
              <a:rPr lang="en-US" sz="1300" b="0" i="0" u="none" strike="noStrike" baseline="0"/>
              <a:t>, </a:t>
            </a:r>
            <a:r>
              <a:rPr lang="en-US" sz="1300" b="0" i="1" u="none" strike="noStrike" baseline="0"/>
              <a:t>235</a:t>
            </a:r>
            <a:r>
              <a:rPr lang="en-US" sz="1300" b="0" i="0" u="none" strike="noStrike" baseline="0"/>
              <a:t>, pp.1649-1663.</a:t>
            </a:r>
          </a:p>
        </p:txBody>
      </p:sp>
    </p:spTree>
    <p:extLst>
      <p:ext uri="{BB962C8B-B14F-4D97-AF65-F5344CB8AC3E}">
        <p14:creationId xmlns:p14="http://schemas.microsoft.com/office/powerpoint/2010/main" val="1885633297"/>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B7743172-17A8-4FA4-8434-B813E03B7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3">
            <a:extLst>
              <a:ext uri="{FF2B5EF4-FFF2-40B4-BE49-F238E27FC236}">
                <a16:creationId xmlns:a16="http://schemas.microsoft.com/office/drawing/2014/main" id="{4CE1233C-FD2F-489E-BFDE-086F5FED6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0184870-B6D5-827F-F8A0-571640C877A1}"/>
              </a:ext>
            </a:extLst>
          </p:cNvPr>
          <p:cNvSpPr>
            <a:spLocks noGrp="1"/>
          </p:cNvSpPr>
          <p:nvPr>
            <p:ph type="title"/>
          </p:nvPr>
        </p:nvSpPr>
        <p:spPr>
          <a:xfrm>
            <a:off x="451514" y="1800225"/>
            <a:ext cx="3444211" cy="4241136"/>
          </a:xfrm>
        </p:spPr>
        <p:txBody>
          <a:bodyPr vert="horz" lIns="91440" tIns="45720" rIns="91440" bIns="45720" rtlCol="0" anchor="t">
            <a:normAutofit/>
          </a:bodyPr>
          <a:lstStyle/>
          <a:p>
            <a:pPr marR="0"/>
            <a:r>
              <a:rPr lang="en-US" sz="4400" i="0" u="none" strike="noStrike" baseline="0"/>
              <a:t>Thank You</a:t>
            </a:r>
          </a:p>
        </p:txBody>
      </p:sp>
      <p:pic>
        <p:nvPicPr>
          <p:cNvPr id="7" name="Graphic 6" descr="Smiling Face with No Fill">
            <a:extLst>
              <a:ext uri="{FF2B5EF4-FFF2-40B4-BE49-F238E27FC236}">
                <a16:creationId xmlns:a16="http://schemas.microsoft.com/office/drawing/2014/main" id="{1FAEF3D1-ED3F-B10B-6C4A-23B86DF309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554" y="643465"/>
            <a:ext cx="5397897" cy="5397897"/>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765307469"/>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themeOverride>
</file>

<file path=docProps/app.xml><?xml version="1.0" encoding="utf-8"?>
<Properties xmlns="http://schemas.openxmlformats.org/officeDocument/2006/extended-properties" xmlns:vt="http://schemas.openxmlformats.org/officeDocument/2006/docPropsVTypes">
  <Template/>
  <TotalTime>229</TotalTime>
  <Words>1975</Words>
  <Application>Microsoft Office PowerPoint</Application>
  <PresentationFormat>Widescreen</PresentationFormat>
  <Paragraphs>122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Century Gothic</vt:lpstr>
      <vt:lpstr>Wingdings 2</vt:lpstr>
      <vt:lpstr>Quotable</vt:lpstr>
      <vt:lpstr>HUMAN FACTORS IN CYBERSECURITY: THE ROLE OF EMPLOYEE AWARENESS IN REDUCING CYBER THREATS</vt:lpstr>
      <vt:lpstr>Background and Context</vt:lpstr>
      <vt:lpstr>Research Problem</vt:lpstr>
      <vt:lpstr>Types of Attacks</vt:lpstr>
      <vt:lpstr>PowerPoint Presentation</vt:lpstr>
      <vt:lpstr>PowerPoint Presentation</vt:lpstr>
      <vt:lpstr>Aim and Research Objectives</vt:lpstr>
      <vt:lpstr>Literature and Theoretical Framework</vt:lpstr>
      <vt:lpstr>Research Methodology</vt:lpstr>
      <vt:lpstr>Finding One: Human Error</vt:lpstr>
      <vt:lpstr>Finding Two: Awareness Programmes</vt:lpstr>
      <vt:lpstr>Finding Three: Security Culture</vt:lpstr>
      <vt:lpstr>Discussion and Organisational Recommendations</vt:lpstr>
      <vt:lpstr>Conclusion and Future Research</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dc:creator>
  <cp:lastModifiedBy>Akash Upadhyay</cp:lastModifiedBy>
  <cp:revision>13</cp:revision>
  <dcterms:created xsi:type="dcterms:W3CDTF">2026-09-18T06:41:34Z</dcterms:created>
  <dcterms:modified xsi:type="dcterms:W3CDTF">2026-09-20T12:56:40Z</dcterms:modified>
</cp:coreProperties>
</file>